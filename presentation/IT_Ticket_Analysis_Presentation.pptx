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3" r:id="rId22"/>
    <p:sldId id="284" r:id="rId23"/>
    <p:sldId id="285" r:id="rId24"/>
    <p:sldId id="286" r:id="rId25"/>
    <p:sldId id="287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8288000" cy="10287000"/>
  <p:notesSz cx="6858000" cy="9144000"/>
  <p:embeddedFontLst>
    <p:embeddedFont>
      <p:font typeface="Canva Sans" panose="020B0604020202020204" charset="0"/>
      <p:regular r:id="rId35"/>
    </p:embeddedFont>
    <p:embeddedFont>
      <p:font typeface="Canva Sans Bold" panose="020B0604020202020204" charset="0"/>
      <p:regular r:id="rId36"/>
    </p:embeddedFont>
    <p:embeddedFont>
      <p:font typeface="League Spartan" panose="020B0604020202020204" charset="0"/>
      <p:regular r:id="rId37"/>
    </p:embeddedFont>
    <p:embeddedFont>
      <p:font typeface="Lora Bold" panose="020B0604020202020204" charset="0"/>
      <p:regular r:id="rId38"/>
    </p:embeddedFont>
    <p:embeddedFont>
      <p:font typeface="Poppins" panose="00000500000000000000" pitchFamily="2" charset="0"/>
      <p:regular r:id="rId39"/>
      <p:bold r:id="rId40"/>
      <p:italic r:id="rId41"/>
      <p:boldItalic r:id="rId42"/>
    </p:embeddedFont>
    <p:embeddedFont>
      <p:font typeface="Poppins Bold" panose="00000800000000000000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1E772-D3A7-4D5F-8E31-015E32BD336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87DF2-6DF4-4F18-81BC-F2BF3FA93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06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87DF2-6DF4-4F18-81BC-F2BF3FA930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84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87DF2-6DF4-4F18-81BC-F2BF3FA930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44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87DF2-6DF4-4F18-81BC-F2BF3FA930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75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87DF2-6DF4-4F18-81BC-F2BF3FA930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54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87DF2-6DF4-4F18-81BC-F2BF3FA9306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33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87DF2-6DF4-4F18-81BC-F2BF3FA930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25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87DF2-6DF4-4F18-81BC-F2BF3FA9306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26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2663" y="7049091"/>
            <a:ext cx="12452085" cy="47625"/>
          </a:xfrm>
          <a:custGeom>
            <a:avLst/>
            <a:gdLst/>
            <a:ahLst/>
            <a:cxnLst/>
            <a:rect l="l" t="t" r="r" b="b"/>
            <a:pathLst>
              <a:path w="12452085" h="47625">
                <a:moveTo>
                  <a:pt x="0" y="0"/>
                </a:moveTo>
                <a:lnTo>
                  <a:pt x="12452085" y="0"/>
                </a:lnTo>
                <a:lnTo>
                  <a:pt x="1245208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60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82663" y="7230066"/>
            <a:ext cx="2073833" cy="856184"/>
          </a:xfrm>
          <a:custGeom>
            <a:avLst/>
            <a:gdLst/>
            <a:ahLst/>
            <a:cxnLst/>
            <a:rect l="l" t="t" r="r" b="b"/>
            <a:pathLst>
              <a:path w="2073833" h="856184">
                <a:moveTo>
                  <a:pt x="0" y="0"/>
                </a:moveTo>
                <a:lnTo>
                  <a:pt x="2073833" y="0"/>
                </a:lnTo>
                <a:lnTo>
                  <a:pt x="2073833" y="856183"/>
                </a:lnTo>
                <a:lnTo>
                  <a:pt x="0" y="856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79764" b="-6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767583" y="7230066"/>
            <a:ext cx="1830484" cy="914898"/>
          </a:xfrm>
          <a:custGeom>
            <a:avLst/>
            <a:gdLst/>
            <a:ahLst/>
            <a:cxnLst/>
            <a:rect l="l" t="t" r="r" b="b"/>
            <a:pathLst>
              <a:path w="1830484" h="914898">
                <a:moveTo>
                  <a:pt x="0" y="0"/>
                </a:moveTo>
                <a:lnTo>
                  <a:pt x="1830483" y="0"/>
                </a:lnTo>
                <a:lnTo>
                  <a:pt x="1830483" y="914897"/>
                </a:lnTo>
                <a:lnTo>
                  <a:pt x="0" y="914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435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608705" y="7230066"/>
            <a:ext cx="3091477" cy="914898"/>
          </a:xfrm>
          <a:custGeom>
            <a:avLst/>
            <a:gdLst/>
            <a:ahLst/>
            <a:cxnLst/>
            <a:rect l="l" t="t" r="r" b="b"/>
            <a:pathLst>
              <a:path w="3091477" h="914898">
                <a:moveTo>
                  <a:pt x="0" y="0"/>
                </a:moveTo>
                <a:lnTo>
                  <a:pt x="3091477" y="0"/>
                </a:lnTo>
                <a:lnTo>
                  <a:pt x="3091477" y="914897"/>
                </a:lnTo>
                <a:lnTo>
                  <a:pt x="0" y="914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218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014632" y="7230066"/>
            <a:ext cx="1852606" cy="914898"/>
          </a:xfrm>
          <a:custGeom>
            <a:avLst/>
            <a:gdLst/>
            <a:ahLst/>
            <a:cxnLst/>
            <a:rect l="l" t="t" r="r" b="b"/>
            <a:pathLst>
              <a:path w="1852606" h="914898">
                <a:moveTo>
                  <a:pt x="0" y="0"/>
                </a:moveTo>
                <a:lnTo>
                  <a:pt x="1852607" y="0"/>
                </a:lnTo>
                <a:lnTo>
                  <a:pt x="1852607" y="914897"/>
                </a:lnTo>
                <a:lnTo>
                  <a:pt x="0" y="91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370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540579" y="374766"/>
            <a:ext cx="6351645" cy="6351645"/>
          </a:xfrm>
          <a:custGeom>
            <a:avLst/>
            <a:gdLst/>
            <a:ahLst/>
            <a:cxnLst/>
            <a:rect l="l" t="t" r="r" b="b"/>
            <a:pathLst>
              <a:path w="6351645" h="6351645">
                <a:moveTo>
                  <a:pt x="0" y="0"/>
                </a:moveTo>
                <a:lnTo>
                  <a:pt x="6351645" y="0"/>
                </a:lnTo>
                <a:lnTo>
                  <a:pt x="6351645" y="6351646"/>
                </a:lnTo>
                <a:lnTo>
                  <a:pt x="0" y="63516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574815" y="1409002"/>
            <a:ext cx="4283174" cy="4283174"/>
          </a:xfrm>
          <a:custGeom>
            <a:avLst/>
            <a:gdLst/>
            <a:ahLst/>
            <a:cxnLst/>
            <a:rect l="l" t="t" r="r" b="b"/>
            <a:pathLst>
              <a:path w="4283174" h="4283174">
                <a:moveTo>
                  <a:pt x="0" y="0"/>
                </a:moveTo>
                <a:lnTo>
                  <a:pt x="4283174" y="0"/>
                </a:lnTo>
                <a:lnTo>
                  <a:pt x="4283174" y="4283174"/>
                </a:lnTo>
                <a:lnTo>
                  <a:pt x="0" y="42831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392748" y="2157270"/>
            <a:ext cx="2647307" cy="2786639"/>
          </a:xfrm>
          <a:custGeom>
            <a:avLst/>
            <a:gdLst/>
            <a:ahLst/>
            <a:cxnLst/>
            <a:rect l="l" t="t" r="r" b="b"/>
            <a:pathLst>
              <a:path w="2647307" h="2786639">
                <a:moveTo>
                  <a:pt x="0" y="0"/>
                </a:moveTo>
                <a:lnTo>
                  <a:pt x="2647307" y="0"/>
                </a:lnTo>
                <a:lnTo>
                  <a:pt x="2647307" y="2786638"/>
                </a:lnTo>
                <a:lnTo>
                  <a:pt x="0" y="27866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0" y="1468725"/>
            <a:ext cx="11540579" cy="164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5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IT TICKET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6645" y="3501375"/>
            <a:ext cx="9324499" cy="164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39"/>
              </a:lnSpc>
              <a:spcBef>
                <a:spcPct val="0"/>
              </a:spcBef>
            </a:pPr>
            <a:r>
              <a:rPr lang="en-US" sz="9599" b="1" u="none" strike="noStrike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MANAGEMET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9516" y="5122638"/>
            <a:ext cx="9177100" cy="82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Analysis Report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9780" y="8143399"/>
            <a:ext cx="2979599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Tickets &amp; IT Agents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20939" y="8202113"/>
            <a:ext cx="1777127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2016 – 2020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51925" y="8202113"/>
            <a:ext cx="2205038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97,498 Tickets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73944" y="8143399"/>
            <a:ext cx="1593294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2593148836"/>
              </p:ext>
            </p:extLst>
          </p:nvPr>
        </p:nvGraphicFramePr>
        <p:xfrm>
          <a:off x="1028700" y="3009900"/>
          <a:ext cx="16230600" cy="678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469100" imgH="7594600" progId="Excel.Sheet.12">
                  <p:embed/>
                </p:oleObj>
              </mc:Choice>
              <mc:Fallback>
                <p:oleObj name="Worksheet" r:id="rId2" imgW="19469100" imgH="7594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3009900"/>
                        <a:ext cx="16230600" cy="678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762000" y="2476500"/>
            <a:ext cx="17145000" cy="1626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2130" spc="25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report presents a comprehensive analysis of the IT Ticket Management dataset </a:t>
            </a:r>
            <a:r>
              <a:rPr lang="en-US" sz="2130" spc="2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spanning 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2130" spc="2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January </a:t>
            </a:r>
            <a:r>
              <a:rPr lang="en-US" sz="2130" spc="253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2016</a:t>
            </a:r>
            <a:r>
              <a:rPr lang="en-US" sz="2130" spc="25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through December </a:t>
            </a:r>
            <a:r>
              <a:rPr lang="en-US" sz="2130" spc="253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30" spc="25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Using </a:t>
            </a:r>
            <a:r>
              <a:rPr lang="en-US" sz="2130" spc="253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r>
              <a:rPr lang="en-US" sz="2130" spc="25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objective and 10 subjective business questions, 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2130" spc="25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extract insights about agent performance, ticket resolution trends, and platform health. 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2130" spc="25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findings directly inform investment priorities, training decisions, and operational strategy</a:t>
            </a:r>
            <a:r>
              <a:rPr lang="en-US" sz="2200" spc="25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335" y="419100"/>
            <a:ext cx="7846090" cy="136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 b="1" u="none" strike="noStrike" spc="495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DESCRIPTION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6162" y="1738518"/>
            <a:ext cx="7673138" cy="7707074"/>
          </a:xfrm>
          <a:custGeom>
            <a:avLst/>
            <a:gdLst/>
            <a:ahLst/>
            <a:cxnLst/>
            <a:rect l="l" t="t" r="r" b="b"/>
            <a:pathLst>
              <a:path w="7673138" h="7707074">
                <a:moveTo>
                  <a:pt x="0" y="0"/>
                </a:moveTo>
                <a:lnTo>
                  <a:pt x="7673138" y="0"/>
                </a:lnTo>
                <a:lnTo>
                  <a:pt x="7673138" y="7707074"/>
                </a:lnTo>
                <a:lnTo>
                  <a:pt x="0" y="7707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303" r="-49125"/>
            </a:stretch>
          </a:blipFill>
          <a:ln w="323850" cap="sq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7078" y="288481"/>
            <a:ext cx="11407843" cy="136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 b="1" u="none" strike="noStrike" spc="495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TABLE OF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8779" y="2225284"/>
            <a:ext cx="5498621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9" lvl="1" indent="-377829" algn="l">
              <a:lnSpc>
                <a:spcPts val="4900"/>
              </a:lnSpc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Executive Summary.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8779" y="4614468"/>
            <a:ext cx="5117621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30" lvl="1"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4.Problem Statement.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8778" y="5411392"/>
            <a:ext cx="4889021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30" lvl="1"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5.Strategic Findings.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8779" y="3020620"/>
            <a:ext cx="6032021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30" lvl="1"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2.Key Metrics at a Glance.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779" y="6208316"/>
            <a:ext cx="6032021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30" lvl="1"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6.Data Schema Overview.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8778" y="6988145"/>
            <a:ext cx="6413021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30" lvl="1"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7.Key Findings and Insights.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8778" y="7785069"/>
            <a:ext cx="8699022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30" lvl="1"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8.Analytical Approach &amp; Methodology.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8779" y="8581993"/>
            <a:ext cx="7175021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30" lvl="1"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9.Strategic Recommendations.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8778" y="3817544"/>
            <a:ext cx="5270021" cy="59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7830" lvl="1"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3.Project Objectives.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739D41-1B3C-C6A8-8EC0-9DD9D13D759B}"/>
              </a:ext>
            </a:extLst>
          </p:cNvPr>
          <p:cNvSpPr txBox="1"/>
          <p:nvPr/>
        </p:nvSpPr>
        <p:spPr>
          <a:xfrm>
            <a:off x="447078" y="9367577"/>
            <a:ext cx="9144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rgbClr val="000000"/>
                </a:solidFill>
                <a:latin typeface="Canva Sans"/>
                <a:sym typeface="Canva Sans"/>
              </a:rPr>
              <a:t> 10.Conclusion.</a:t>
            </a:r>
            <a:endParaRPr lang="en-US" sz="3500" dirty="0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5543" y="1915062"/>
            <a:ext cx="10714965" cy="8027588"/>
          </a:xfrm>
          <a:custGeom>
            <a:avLst/>
            <a:gdLst/>
            <a:ahLst/>
            <a:cxnLst/>
            <a:rect l="l" t="t" r="r" b="b"/>
            <a:pathLst>
              <a:path w="10714965" h="8027588">
                <a:moveTo>
                  <a:pt x="0" y="0"/>
                </a:moveTo>
                <a:lnTo>
                  <a:pt x="10714965" y="0"/>
                </a:lnTo>
                <a:lnTo>
                  <a:pt x="10714965" y="8027588"/>
                </a:lnTo>
                <a:lnTo>
                  <a:pt x="0" y="8027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76" t="-14906" b="-1738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1393245" y="1915062"/>
            <a:ext cx="6506145" cy="2496290"/>
          </a:xfrm>
          <a:custGeom>
            <a:avLst/>
            <a:gdLst/>
            <a:ahLst/>
            <a:cxnLst/>
            <a:rect l="l" t="t" r="r" b="b"/>
            <a:pathLst>
              <a:path w="6506145" h="2496290">
                <a:moveTo>
                  <a:pt x="0" y="0"/>
                </a:moveTo>
                <a:lnTo>
                  <a:pt x="6506144" y="0"/>
                </a:lnTo>
                <a:lnTo>
                  <a:pt x="6506144" y="2496289"/>
                </a:lnTo>
                <a:lnTo>
                  <a:pt x="0" y="2496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150" r="-73701" b="-478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2736" y="268285"/>
            <a:ext cx="12890063" cy="136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 spc="49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EXECUTIVE 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1665" y="2366423"/>
            <a:ext cx="10123533" cy="758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400" dirty="0"/>
              <a:t>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The system managed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97,498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 from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2016–2020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reflecting major growth in IT support operations.</a:t>
            </a:r>
            <a:endParaRPr lang="en-US" sz="2125" spc="244" dirty="0">
              <a:solidFill>
                <a:srgbClr val="000000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393245" y="4393377"/>
            <a:ext cx="6506145" cy="2774636"/>
          </a:xfrm>
          <a:custGeom>
            <a:avLst/>
            <a:gdLst/>
            <a:ahLst/>
            <a:cxnLst/>
            <a:rect l="l" t="t" r="r" b="b"/>
            <a:pathLst>
              <a:path w="6506145" h="2774636">
                <a:moveTo>
                  <a:pt x="0" y="0"/>
                </a:moveTo>
                <a:lnTo>
                  <a:pt x="6506144" y="0"/>
                </a:lnTo>
                <a:lnTo>
                  <a:pt x="6506144" y="2774636"/>
                </a:lnTo>
                <a:lnTo>
                  <a:pt x="0" y="2774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73701" b="-430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393245" y="7168013"/>
            <a:ext cx="6506145" cy="2774636"/>
          </a:xfrm>
          <a:custGeom>
            <a:avLst/>
            <a:gdLst/>
            <a:ahLst/>
            <a:cxnLst/>
            <a:rect l="l" t="t" r="r" b="b"/>
            <a:pathLst>
              <a:path w="6506145" h="2774636">
                <a:moveTo>
                  <a:pt x="0" y="0"/>
                </a:moveTo>
                <a:lnTo>
                  <a:pt x="6506144" y="0"/>
                </a:lnTo>
                <a:lnTo>
                  <a:pt x="6506144" y="2774637"/>
                </a:lnTo>
                <a:lnTo>
                  <a:pt x="0" y="2774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73701" b="-430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722088" y="2121355"/>
            <a:ext cx="3848457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Primary Objective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10048" y="3368909"/>
            <a:ext cx="5272538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 data quality &amp; uncover engagement patterns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25981" y="4897126"/>
            <a:ext cx="6506145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Critical Risk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25981" y="5871706"/>
            <a:ext cx="6506145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29,410 unrouted tickets inflate resolution times by ~17%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66331" y="7373312"/>
            <a:ext cx="3559969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Top Opportunity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10048" y="8899307"/>
            <a:ext cx="5733319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triage system can reduce avg resolution by 34%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F1915-4D0D-BE8A-7CBE-3CFF37042F9C}"/>
              </a:ext>
            </a:extLst>
          </p:cNvPr>
          <p:cNvSpPr txBox="1"/>
          <p:nvPr/>
        </p:nvSpPr>
        <p:spPr>
          <a:xfrm>
            <a:off x="915632" y="3406742"/>
            <a:ext cx="10209565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Ticket volume increased by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123%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with the highest rise of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35.4%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recorded in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during the COVID-19 remote-work period.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CF462C-1962-5D7C-416D-069F02D3E9A2}"/>
              </a:ext>
            </a:extLst>
          </p:cNvPr>
          <p:cNvSpPr txBox="1"/>
          <p:nvPr/>
        </p:nvSpPr>
        <p:spPr>
          <a:xfrm>
            <a:off x="932839" y="4758460"/>
            <a:ext cx="10192358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The support team maintained a strong average satisfaction score of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4.10/5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despite rising operational workload and ticket pressure.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FC62B5-BE65-3656-43D7-2413241F1FEA}"/>
              </a:ext>
            </a:extLst>
          </p:cNvPr>
          <p:cNvSpPr txBox="1"/>
          <p:nvPr/>
        </p:nvSpPr>
        <p:spPr>
          <a:xfrm>
            <a:off x="883677" y="6110178"/>
            <a:ext cx="10241520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Around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30.2%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of tickets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29,410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 remained unrouted, showing serious inefficiencies in ticket prioritization and assignment processes.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1F89C1-9E77-BF9C-8D59-4C5224A897C4}"/>
              </a:ext>
            </a:extLst>
          </p:cNvPr>
          <p:cNvSpPr txBox="1"/>
          <p:nvPr/>
        </p:nvSpPr>
        <p:spPr>
          <a:xfrm>
            <a:off x="868929" y="7461896"/>
            <a:ext cx="10256268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Hardware tickets required the longest resolution time at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7.63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days, while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agents performed below expected service benchmarks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6217" y="3277167"/>
            <a:ext cx="4149504" cy="2841246"/>
            <a:chOff x="0" y="0"/>
            <a:chExt cx="635000" cy="434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" cy="434797"/>
            </a:xfrm>
            <a:custGeom>
              <a:avLst/>
              <a:gdLst/>
              <a:ahLst/>
              <a:cxnLst/>
              <a:rect l="l" t="t" r="r" b="b"/>
              <a:pathLst>
                <a:path w="635000" h="434797">
                  <a:moveTo>
                    <a:pt x="36440" y="0"/>
                  </a:moveTo>
                  <a:lnTo>
                    <a:pt x="598560" y="0"/>
                  </a:lnTo>
                  <a:cubicBezTo>
                    <a:pt x="608224" y="0"/>
                    <a:pt x="617493" y="3839"/>
                    <a:pt x="624327" y="10673"/>
                  </a:cubicBezTo>
                  <a:cubicBezTo>
                    <a:pt x="631161" y="17507"/>
                    <a:pt x="635000" y="26776"/>
                    <a:pt x="635000" y="36440"/>
                  </a:cubicBezTo>
                  <a:lnTo>
                    <a:pt x="635000" y="398356"/>
                  </a:lnTo>
                  <a:cubicBezTo>
                    <a:pt x="635000" y="418482"/>
                    <a:pt x="618685" y="434797"/>
                    <a:pt x="598560" y="434797"/>
                  </a:cubicBezTo>
                  <a:lnTo>
                    <a:pt x="36440" y="434797"/>
                  </a:lnTo>
                  <a:cubicBezTo>
                    <a:pt x="26776" y="434797"/>
                    <a:pt x="17507" y="430958"/>
                    <a:pt x="10673" y="424124"/>
                  </a:cubicBezTo>
                  <a:cubicBezTo>
                    <a:pt x="3839" y="417290"/>
                    <a:pt x="0" y="408021"/>
                    <a:pt x="0" y="398356"/>
                  </a:cubicBezTo>
                  <a:lnTo>
                    <a:pt x="0" y="36440"/>
                  </a:lnTo>
                  <a:cubicBezTo>
                    <a:pt x="0" y="26776"/>
                    <a:pt x="3839" y="17507"/>
                    <a:pt x="10673" y="10673"/>
                  </a:cubicBezTo>
                  <a:cubicBezTo>
                    <a:pt x="17507" y="3839"/>
                    <a:pt x="26776" y="0"/>
                    <a:pt x="36440" y="0"/>
                  </a:cubicBezTo>
                  <a:close/>
                </a:path>
              </a:pathLst>
            </a:custGeom>
            <a:solidFill>
              <a:srgbClr val="C2C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635000" cy="510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31361" y="3277167"/>
            <a:ext cx="3969469" cy="2841246"/>
            <a:chOff x="0" y="0"/>
            <a:chExt cx="816763" cy="5846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6763" cy="584618"/>
            </a:xfrm>
            <a:custGeom>
              <a:avLst/>
              <a:gdLst/>
              <a:ahLst/>
              <a:cxnLst/>
              <a:rect l="l" t="t" r="r" b="b"/>
              <a:pathLst>
                <a:path w="816763" h="584618">
                  <a:moveTo>
                    <a:pt x="38093" y="0"/>
                  </a:moveTo>
                  <a:lnTo>
                    <a:pt x="778670" y="0"/>
                  </a:lnTo>
                  <a:cubicBezTo>
                    <a:pt x="799708" y="0"/>
                    <a:pt x="816763" y="17055"/>
                    <a:pt x="816763" y="38093"/>
                  </a:cubicBezTo>
                  <a:lnTo>
                    <a:pt x="816763" y="546525"/>
                  </a:lnTo>
                  <a:cubicBezTo>
                    <a:pt x="816763" y="556628"/>
                    <a:pt x="812750" y="566317"/>
                    <a:pt x="805606" y="573461"/>
                  </a:cubicBezTo>
                  <a:cubicBezTo>
                    <a:pt x="798462" y="580605"/>
                    <a:pt x="788773" y="584618"/>
                    <a:pt x="778670" y="584618"/>
                  </a:cubicBezTo>
                  <a:lnTo>
                    <a:pt x="38093" y="584618"/>
                  </a:lnTo>
                  <a:cubicBezTo>
                    <a:pt x="27990" y="584618"/>
                    <a:pt x="18301" y="580605"/>
                    <a:pt x="11157" y="573461"/>
                  </a:cubicBezTo>
                  <a:cubicBezTo>
                    <a:pt x="4013" y="566317"/>
                    <a:pt x="0" y="556628"/>
                    <a:pt x="0" y="546525"/>
                  </a:cubicBezTo>
                  <a:lnTo>
                    <a:pt x="0" y="38093"/>
                  </a:lnTo>
                  <a:cubicBezTo>
                    <a:pt x="0" y="27990"/>
                    <a:pt x="4013" y="18301"/>
                    <a:pt x="11157" y="11157"/>
                  </a:cubicBezTo>
                  <a:cubicBezTo>
                    <a:pt x="18301" y="4013"/>
                    <a:pt x="27990" y="0"/>
                    <a:pt x="38093" y="0"/>
                  </a:cubicBezTo>
                  <a:close/>
                </a:path>
              </a:pathLst>
            </a:custGeom>
            <a:solidFill>
              <a:srgbClr val="D8C7F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16763" cy="660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30679" y="3293238"/>
            <a:ext cx="3735024" cy="2825174"/>
            <a:chOff x="0" y="0"/>
            <a:chExt cx="768523" cy="5813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8523" cy="581312"/>
            </a:xfrm>
            <a:custGeom>
              <a:avLst/>
              <a:gdLst/>
              <a:ahLst/>
              <a:cxnLst/>
              <a:rect l="l" t="t" r="r" b="b"/>
              <a:pathLst>
                <a:path w="768523" h="581312">
                  <a:moveTo>
                    <a:pt x="40484" y="0"/>
                  </a:moveTo>
                  <a:lnTo>
                    <a:pt x="728039" y="0"/>
                  </a:lnTo>
                  <a:cubicBezTo>
                    <a:pt x="738776" y="0"/>
                    <a:pt x="749074" y="4265"/>
                    <a:pt x="756666" y="11858"/>
                  </a:cubicBezTo>
                  <a:cubicBezTo>
                    <a:pt x="764258" y="19450"/>
                    <a:pt x="768523" y="29747"/>
                    <a:pt x="768523" y="40484"/>
                  </a:cubicBezTo>
                  <a:lnTo>
                    <a:pt x="768523" y="540827"/>
                  </a:lnTo>
                  <a:cubicBezTo>
                    <a:pt x="768523" y="551564"/>
                    <a:pt x="764258" y="561862"/>
                    <a:pt x="756666" y="569454"/>
                  </a:cubicBezTo>
                  <a:cubicBezTo>
                    <a:pt x="749074" y="577046"/>
                    <a:pt x="738776" y="581312"/>
                    <a:pt x="728039" y="581312"/>
                  </a:cubicBezTo>
                  <a:lnTo>
                    <a:pt x="40484" y="581312"/>
                  </a:lnTo>
                  <a:cubicBezTo>
                    <a:pt x="29747" y="581312"/>
                    <a:pt x="19450" y="577046"/>
                    <a:pt x="11858" y="569454"/>
                  </a:cubicBezTo>
                  <a:cubicBezTo>
                    <a:pt x="4265" y="561862"/>
                    <a:pt x="0" y="551564"/>
                    <a:pt x="0" y="540827"/>
                  </a:cubicBezTo>
                  <a:lnTo>
                    <a:pt x="0" y="40484"/>
                  </a:lnTo>
                  <a:cubicBezTo>
                    <a:pt x="0" y="29747"/>
                    <a:pt x="4265" y="19450"/>
                    <a:pt x="11858" y="11858"/>
                  </a:cubicBezTo>
                  <a:cubicBezTo>
                    <a:pt x="19450" y="4265"/>
                    <a:pt x="29747" y="0"/>
                    <a:pt x="40484" y="0"/>
                  </a:cubicBezTo>
                  <a:close/>
                </a:path>
              </a:pathLst>
            </a:custGeom>
            <a:solidFill>
              <a:srgbClr val="E2CB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768523" cy="657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16904" y="3293238"/>
            <a:ext cx="3763622" cy="2825174"/>
            <a:chOff x="0" y="0"/>
            <a:chExt cx="774408" cy="5813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74408" cy="581312"/>
            </a:xfrm>
            <a:custGeom>
              <a:avLst/>
              <a:gdLst/>
              <a:ahLst/>
              <a:cxnLst/>
              <a:rect l="l" t="t" r="r" b="b"/>
              <a:pathLst>
                <a:path w="774408" h="581312">
                  <a:moveTo>
                    <a:pt x="40177" y="0"/>
                  </a:moveTo>
                  <a:lnTo>
                    <a:pt x="734231" y="0"/>
                  </a:lnTo>
                  <a:cubicBezTo>
                    <a:pt x="744887" y="0"/>
                    <a:pt x="755106" y="4233"/>
                    <a:pt x="762640" y="11767"/>
                  </a:cubicBezTo>
                  <a:cubicBezTo>
                    <a:pt x="770175" y="19302"/>
                    <a:pt x="774408" y="29521"/>
                    <a:pt x="774408" y="40177"/>
                  </a:cubicBezTo>
                  <a:lnTo>
                    <a:pt x="774408" y="541135"/>
                  </a:lnTo>
                  <a:cubicBezTo>
                    <a:pt x="774408" y="551791"/>
                    <a:pt x="770175" y="562010"/>
                    <a:pt x="762640" y="569544"/>
                  </a:cubicBezTo>
                  <a:cubicBezTo>
                    <a:pt x="755106" y="577079"/>
                    <a:pt x="744887" y="581312"/>
                    <a:pt x="734231" y="581312"/>
                  </a:cubicBezTo>
                  <a:lnTo>
                    <a:pt x="40177" y="581312"/>
                  </a:lnTo>
                  <a:cubicBezTo>
                    <a:pt x="29521" y="581312"/>
                    <a:pt x="19302" y="577079"/>
                    <a:pt x="11767" y="569544"/>
                  </a:cubicBezTo>
                  <a:cubicBezTo>
                    <a:pt x="4233" y="562010"/>
                    <a:pt x="0" y="551791"/>
                    <a:pt x="0" y="541135"/>
                  </a:cubicBezTo>
                  <a:lnTo>
                    <a:pt x="0" y="40177"/>
                  </a:lnTo>
                  <a:cubicBezTo>
                    <a:pt x="0" y="29521"/>
                    <a:pt x="4233" y="19302"/>
                    <a:pt x="11767" y="11767"/>
                  </a:cubicBezTo>
                  <a:cubicBezTo>
                    <a:pt x="19302" y="4233"/>
                    <a:pt x="29521" y="0"/>
                    <a:pt x="40177" y="0"/>
                  </a:cubicBezTo>
                  <a:close/>
                </a:path>
              </a:pathLst>
            </a:custGeom>
            <a:solidFill>
              <a:srgbClr val="EDCB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774408" cy="657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62781" y="6542056"/>
            <a:ext cx="3677874" cy="2716244"/>
            <a:chOff x="0" y="0"/>
            <a:chExt cx="756764" cy="5588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6764" cy="558898"/>
            </a:xfrm>
            <a:custGeom>
              <a:avLst/>
              <a:gdLst/>
              <a:ahLst/>
              <a:cxnLst/>
              <a:rect l="l" t="t" r="r" b="b"/>
              <a:pathLst>
                <a:path w="756764" h="558898">
                  <a:moveTo>
                    <a:pt x="41113" y="0"/>
                  </a:moveTo>
                  <a:lnTo>
                    <a:pt x="715651" y="0"/>
                  </a:lnTo>
                  <a:cubicBezTo>
                    <a:pt x="738357" y="0"/>
                    <a:pt x="756764" y="18407"/>
                    <a:pt x="756764" y="41113"/>
                  </a:cubicBezTo>
                  <a:lnTo>
                    <a:pt x="756764" y="517785"/>
                  </a:lnTo>
                  <a:cubicBezTo>
                    <a:pt x="756764" y="540491"/>
                    <a:pt x="738357" y="558898"/>
                    <a:pt x="715651" y="558898"/>
                  </a:cubicBezTo>
                  <a:lnTo>
                    <a:pt x="41113" y="558898"/>
                  </a:lnTo>
                  <a:cubicBezTo>
                    <a:pt x="18407" y="558898"/>
                    <a:pt x="0" y="540491"/>
                    <a:pt x="0" y="517785"/>
                  </a:cubicBezTo>
                  <a:lnTo>
                    <a:pt x="0" y="41113"/>
                  </a:lnTo>
                  <a:cubicBezTo>
                    <a:pt x="0" y="18407"/>
                    <a:pt x="18407" y="0"/>
                    <a:pt x="41113" y="0"/>
                  </a:cubicBezTo>
                  <a:close/>
                </a:path>
              </a:pathLst>
            </a:custGeom>
            <a:solidFill>
              <a:srgbClr val="FFC2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756764" cy="635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31361" y="6417054"/>
            <a:ext cx="3912319" cy="2841246"/>
            <a:chOff x="0" y="0"/>
            <a:chExt cx="805004" cy="5846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5004" cy="584618"/>
            </a:xfrm>
            <a:custGeom>
              <a:avLst/>
              <a:gdLst/>
              <a:ahLst/>
              <a:cxnLst/>
              <a:rect l="l" t="t" r="r" b="b"/>
              <a:pathLst>
                <a:path w="805004" h="584618">
                  <a:moveTo>
                    <a:pt x="38650" y="0"/>
                  </a:moveTo>
                  <a:lnTo>
                    <a:pt x="766354" y="0"/>
                  </a:lnTo>
                  <a:cubicBezTo>
                    <a:pt x="787700" y="0"/>
                    <a:pt x="805004" y="17304"/>
                    <a:pt x="805004" y="38650"/>
                  </a:cubicBezTo>
                  <a:lnTo>
                    <a:pt x="805004" y="545969"/>
                  </a:lnTo>
                  <a:cubicBezTo>
                    <a:pt x="805004" y="567314"/>
                    <a:pt x="787700" y="584618"/>
                    <a:pt x="766354" y="584618"/>
                  </a:cubicBezTo>
                  <a:lnTo>
                    <a:pt x="38650" y="584618"/>
                  </a:lnTo>
                  <a:cubicBezTo>
                    <a:pt x="28399" y="584618"/>
                    <a:pt x="18568" y="580546"/>
                    <a:pt x="11320" y="573298"/>
                  </a:cubicBezTo>
                  <a:cubicBezTo>
                    <a:pt x="4072" y="566050"/>
                    <a:pt x="0" y="556219"/>
                    <a:pt x="0" y="545969"/>
                  </a:cubicBezTo>
                  <a:lnTo>
                    <a:pt x="0" y="38650"/>
                  </a:lnTo>
                  <a:cubicBezTo>
                    <a:pt x="0" y="28399"/>
                    <a:pt x="4072" y="18568"/>
                    <a:pt x="11320" y="11320"/>
                  </a:cubicBezTo>
                  <a:cubicBezTo>
                    <a:pt x="18568" y="4072"/>
                    <a:pt x="28399" y="0"/>
                    <a:pt x="38650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805004" cy="660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26734" y="6417054"/>
            <a:ext cx="4028469" cy="2841246"/>
            <a:chOff x="0" y="0"/>
            <a:chExt cx="828903" cy="5846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8903" cy="584618"/>
            </a:xfrm>
            <a:custGeom>
              <a:avLst/>
              <a:gdLst/>
              <a:ahLst/>
              <a:cxnLst/>
              <a:rect l="l" t="t" r="r" b="b"/>
              <a:pathLst>
                <a:path w="828903" h="584618">
                  <a:moveTo>
                    <a:pt x="37535" y="0"/>
                  </a:moveTo>
                  <a:lnTo>
                    <a:pt x="791368" y="0"/>
                  </a:lnTo>
                  <a:cubicBezTo>
                    <a:pt x="812098" y="0"/>
                    <a:pt x="828903" y="16805"/>
                    <a:pt x="828903" y="37535"/>
                  </a:cubicBezTo>
                  <a:lnTo>
                    <a:pt x="828903" y="547083"/>
                  </a:lnTo>
                  <a:cubicBezTo>
                    <a:pt x="828903" y="567813"/>
                    <a:pt x="812098" y="584618"/>
                    <a:pt x="791368" y="584618"/>
                  </a:cubicBezTo>
                  <a:lnTo>
                    <a:pt x="37535" y="584618"/>
                  </a:lnTo>
                  <a:cubicBezTo>
                    <a:pt x="16805" y="584618"/>
                    <a:pt x="0" y="567813"/>
                    <a:pt x="0" y="547083"/>
                  </a:cubicBezTo>
                  <a:lnTo>
                    <a:pt x="0" y="37535"/>
                  </a:lnTo>
                  <a:cubicBezTo>
                    <a:pt x="0" y="16805"/>
                    <a:pt x="16805" y="0"/>
                    <a:pt x="37535" y="0"/>
                  </a:cubicBezTo>
                  <a:close/>
                </a:path>
              </a:pathLst>
            </a:custGeom>
            <a:solidFill>
              <a:srgbClr val="FFC2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828903" cy="660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716904" y="6544815"/>
            <a:ext cx="3763622" cy="2713485"/>
            <a:chOff x="0" y="0"/>
            <a:chExt cx="774408" cy="55833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74408" cy="558330"/>
            </a:xfrm>
            <a:custGeom>
              <a:avLst/>
              <a:gdLst/>
              <a:ahLst/>
              <a:cxnLst/>
              <a:rect l="l" t="t" r="r" b="b"/>
              <a:pathLst>
                <a:path w="774408" h="558330">
                  <a:moveTo>
                    <a:pt x="40177" y="0"/>
                  </a:moveTo>
                  <a:lnTo>
                    <a:pt x="734231" y="0"/>
                  </a:lnTo>
                  <a:cubicBezTo>
                    <a:pt x="744887" y="0"/>
                    <a:pt x="755106" y="4233"/>
                    <a:pt x="762640" y="11767"/>
                  </a:cubicBezTo>
                  <a:cubicBezTo>
                    <a:pt x="770175" y="19302"/>
                    <a:pt x="774408" y="29521"/>
                    <a:pt x="774408" y="40177"/>
                  </a:cubicBezTo>
                  <a:lnTo>
                    <a:pt x="774408" y="518154"/>
                  </a:lnTo>
                  <a:cubicBezTo>
                    <a:pt x="774408" y="528809"/>
                    <a:pt x="770175" y="539028"/>
                    <a:pt x="762640" y="546563"/>
                  </a:cubicBezTo>
                  <a:cubicBezTo>
                    <a:pt x="755106" y="554097"/>
                    <a:pt x="744887" y="558330"/>
                    <a:pt x="734231" y="558330"/>
                  </a:cubicBezTo>
                  <a:lnTo>
                    <a:pt x="40177" y="558330"/>
                  </a:lnTo>
                  <a:cubicBezTo>
                    <a:pt x="29521" y="558330"/>
                    <a:pt x="19302" y="554097"/>
                    <a:pt x="11767" y="546563"/>
                  </a:cubicBezTo>
                  <a:cubicBezTo>
                    <a:pt x="4233" y="539028"/>
                    <a:pt x="0" y="528809"/>
                    <a:pt x="0" y="518154"/>
                  </a:cubicBezTo>
                  <a:lnTo>
                    <a:pt x="0" y="40177"/>
                  </a:lnTo>
                  <a:cubicBezTo>
                    <a:pt x="0" y="29521"/>
                    <a:pt x="4233" y="19302"/>
                    <a:pt x="11767" y="11767"/>
                  </a:cubicBezTo>
                  <a:cubicBezTo>
                    <a:pt x="19302" y="4233"/>
                    <a:pt x="29521" y="0"/>
                    <a:pt x="40177" y="0"/>
                  </a:cubicBezTo>
                  <a:close/>
                </a:path>
              </a:pathLst>
            </a:custGeom>
            <a:solidFill>
              <a:srgbClr val="FFD9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774408" cy="634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-465373" y="-1037247"/>
            <a:ext cx="12890063" cy="420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</a:pPr>
            <a:endParaRPr/>
          </a:p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 spc="49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KEY METRICS AT A GLANCE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6217" y="3773394"/>
            <a:ext cx="4088987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1E29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97,498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6734" y="4651848"/>
            <a:ext cx="4088987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1E293B"/>
                </a:solidFill>
                <a:latin typeface="Canva Sans"/>
                <a:ea typeface="Canva Sans"/>
                <a:cs typeface="Canva Sans"/>
                <a:sym typeface="Canva Sans"/>
              </a:rPr>
              <a:t>Total Tickets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69529" y="3924302"/>
            <a:ext cx="3983677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1E29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60323" y="4651848"/>
            <a:ext cx="3983677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>
                <a:solidFill>
                  <a:srgbClr val="1E293B"/>
                </a:solidFill>
                <a:latin typeface="Canva Sans"/>
                <a:ea typeface="Canva Sans"/>
                <a:cs typeface="Canva Sans"/>
                <a:sym typeface="Canva Sans"/>
              </a:rPr>
              <a:t>IT Agents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62781" y="3312001"/>
            <a:ext cx="3735024" cy="1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53.37 tickets/day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91356" y="4811713"/>
            <a:ext cx="3735024" cy="121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Avg. Daily Volume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59754" y="3773394"/>
            <a:ext cx="3884976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4.55 days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716904" y="4546601"/>
            <a:ext cx="3884976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Avg. Resolution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6734" y="6874254"/>
            <a:ext cx="4088987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4.10/5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6217" y="7753728"/>
            <a:ext cx="4088987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Avg. Satisfaction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17154" y="6874254"/>
            <a:ext cx="3983677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30.2%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31361" y="7715628"/>
            <a:ext cx="3983677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Unrouted Tickets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62781" y="6871495"/>
            <a:ext cx="3735024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+123%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05631" y="7712869"/>
            <a:ext cx="3735024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Volume Growth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595551" y="6874254"/>
            <a:ext cx="3884976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40.70 </a:t>
            </a:r>
            <a:r>
              <a:rPr lang="en-US" sz="40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yrs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59754" y="7715628"/>
            <a:ext cx="3884976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Avg. Agent 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352" y="2461903"/>
            <a:ext cx="883348" cy="883348"/>
          </a:xfrm>
          <a:custGeom>
            <a:avLst/>
            <a:gdLst/>
            <a:ahLst/>
            <a:cxnLst/>
            <a:rect l="l" t="t" r="r" b="b"/>
            <a:pathLst>
              <a:path w="883348" h="883348">
                <a:moveTo>
                  <a:pt x="0" y="0"/>
                </a:moveTo>
                <a:lnTo>
                  <a:pt x="883348" y="0"/>
                </a:lnTo>
                <a:lnTo>
                  <a:pt x="883348" y="883349"/>
                </a:lnTo>
                <a:lnTo>
                  <a:pt x="0" y="883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87773" y="5143500"/>
            <a:ext cx="883348" cy="883348"/>
          </a:xfrm>
          <a:custGeom>
            <a:avLst/>
            <a:gdLst/>
            <a:ahLst/>
            <a:cxnLst/>
            <a:rect l="l" t="t" r="r" b="b"/>
            <a:pathLst>
              <a:path w="883348" h="883348">
                <a:moveTo>
                  <a:pt x="0" y="0"/>
                </a:moveTo>
                <a:lnTo>
                  <a:pt x="883348" y="0"/>
                </a:lnTo>
                <a:lnTo>
                  <a:pt x="883348" y="883348"/>
                </a:lnTo>
                <a:lnTo>
                  <a:pt x="0" y="883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63058" y="7685151"/>
            <a:ext cx="883348" cy="883348"/>
          </a:xfrm>
          <a:custGeom>
            <a:avLst/>
            <a:gdLst/>
            <a:ahLst/>
            <a:cxnLst/>
            <a:rect l="l" t="t" r="r" b="b"/>
            <a:pathLst>
              <a:path w="883348" h="883348">
                <a:moveTo>
                  <a:pt x="0" y="0"/>
                </a:moveTo>
                <a:lnTo>
                  <a:pt x="883348" y="0"/>
                </a:lnTo>
                <a:lnTo>
                  <a:pt x="883348" y="883348"/>
                </a:lnTo>
                <a:lnTo>
                  <a:pt x="0" y="883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885721" y="1802202"/>
            <a:ext cx="3126491" cy="6766265"/>
            <a:chOff x="0" y="0"/>
            <a:chExt cx="553247" cy="11973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247" cy="1197323"/>
            </a:xfrm>
            <a:custGeom>
              <a:avLst/>
              <a:gdLst/>
              <a:ahLst/>
              <a:cxnLst/>
              <a:rect l="l" t="t" r="r" b="b"/>
              <a:pathLst>
                <a:path w="553247" h="1197323">
                  <a:moveTo>
                    <a:pt x="553247" y="57747"/>
                  </a:moveTo>
                  <a:lnTo>
                    <a:pt x="553247" y="1197323"/>
                  </a:lnTo>
                  <a:lnTo>
                    <a:pt x="276624" y="1098263"/>
                  </a:lnTo>
                  <a:lnTo>
                    <a:pt x="0" y="1197323"/>
                  </a:lnTo>
                  <a:lnTo>
                    <a:pt x="0" y="57747"/>
                  </a:lnTo>
                  <a:cubicBezTo>
                    <a:pt x="0" y="22860"/>
                    <a:pt x="33195" y="0"/>
                    <a:pt x="71922" y="0"/>
                  </a:cubicBezTo>
                  <a:lnTo>
                    <a:pt x="481325" y="0"/>
                  </a:lnTo>
                  <a:cubicBezTo>
                    <a:pt x="520053" y="0"/>
                    <a:pt x="553247" y="21590"/>
                    <a:pt x="553247" y="61072"/>
                  </a:cubicBezTo>
                  <a:close/>
                </a:path>
              </a:pathLst>
            </a:custGeom>
            <a:solidFill>
              <a:srgbClr val="FFE7C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553247" cy="1164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268285"/>
            <a:ext cx="128778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 b="1" u="none" strike="noStrike" spc="495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PROJECT 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9320" y="2621003"/>
            <a:ext cx="435412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7772" y="2638782"/>
            <a:ext cx="7066832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Integrity &amp; Schema Validation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1061" y="3409941"/>
            <a:ext cx="14754739" cy="1134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.Audit both datasets for NULL values, inconsistencies, and typos.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.Identified Priority misspelling ('Unassiged') and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29,410 </a:t>
            </a:r>
            <a:endParaRPr lang="en-US" sz="2125" spc="24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unclassified records requiring immediate remediation.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2632" y="5257832"/>
            <a:ext cx="536068" cy="524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5482" y="5368605"/>
            <a:ext cx="6270718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Ticket Volume &amp; Trend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1061" y="6195539"/>
            <a:ext cx="12144375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.Quantify annual and monthly ticket volume trends.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.Discovered 123% growth (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2016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with a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35.4%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surge in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enabling capacity planning and forecasting.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287" y="7799482"/>
            <a:ext cx="586774" cy="524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1541" y="7864887"/>
            <a:ext cx="7180773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Category &amp; Resolution Performance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7772" y="8670927"/>
            <a:ext cx="12447949" cy="1134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.Analyze resolution times and satisfaction by ticket category.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.Hardware 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7.63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days) and System 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6.62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days) identified as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top bottlenecks requiring specialist queue intervention.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3575" y="1576642"/>
            <a:ext cx="883348" cy="883348"/>
          </a:xfrm>
          <a:custGeom>
            <a:avLst/>
            <a:gdLst/>
            <a:ahLst/>
            <a:cxnLst/>
            <a:rect l="l" t="t" r="r" b="b"/>
            <a:pathLst>
              <a:path w="883348" h="883348">
                <a:moveTo>
                  <a:pt x="0" y="0"/>
                </a:moveTo>
                <a:lnTo>
                  <a:pt x="883348" y="0"/>
                </a:lnTo>
                <a:lnTo>
                  <a:pt x="883348" y="883349"/>
                </a:lnTo>
                <a:lnTo>
                  <a:pt x="0" y="88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27208" y="1713450"/>
            <a:ext cx="648725" cy="524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70374" y="1749010"/>
            <a:ext cx="6987826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 Performance Benchmarking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92308" y="2596735"/>
            <a:ext cx="12898886" cy="1134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.Rank all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50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agents on satisfaction score and resolution time.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underperformers identified (satisfaction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&lt;3.75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Diana Rojo (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4.60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and Aurelio Tanori benchmarked as top performers.</a:t>
            </a:r>
          </a:p>
        </p:txBody>
      </p:sp>
      <p:sp>
        <p:nvSpPr>
          <p:cNvPr id="6" name="Freeform 6"/>
          <p:cNvSpPr/>
          <p:nvPr/>
        </p:nvSpPr>
        <p:spPr>
          <a:xfrm>
            <a:off x="587026" y="4492244"/>
            <a:ext cx="883348" cy="883348"/>
          </a:xfrm>
          <a:custGeom>
            <a:avLst/>
            <a:gdLst/>
            <a:ahLst/>
            <a:cxnLst/>
            <a:rect l="l" t="t" r="r" b="b"/>
            <a:pathLst>
              <a:path w="883348" h="883348">
                <a:moveTo>
                  <a:pt x="0" y="0"/>
                </a:moveTo>
                <a:lnTo>
                  <a:pt x="883348" y="0"/>
                </a:lnTo>
                <a:lnTo>
                  <a:pt x="883348" y="883348"/>
                </a:lnTo>
                <a:lnTo>
                  <a:pt x="0" y="883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81467" y="4606576"/>
            <a:ext cx="589168" cy="524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2309" y="4619625"/>
            <a:ext cx="5851491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Investment Decision Support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2309" y="5467350"/>
            <a:ext cx="11770043" cy="151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.Evaluate three investment options: hire agents, run training, or        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upgrade software.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.Data analysis confirms software upgrade as highest-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ROI priority — estimated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34%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resolution time reduction.</a:t>
            </a:r>
          </a:p>
        </p:txBody>
      </p:sp>
      <p:sp>
        <p:nvSpPr>
          <p:cNvPr id="10" name="Freeform 10"/>
          <p:cNvSpPr/>
          <p:nvPr/>
        </p:nvSpPr>
        <p:spPr>
          <a:xfrm>
            <a:off x="680359" y="7385336"/>
            <a:ext cx="883348" cy="883348"/>
          </a:xfrm>
          <a:custGeom>
            <a:avLst/>
            <a:gdLst/>
            <a:ahLst/>
            <a:cxnLst/>
            <a:rect l="l" t="t" r="r" b="b"/>
            <a:pathLst>
              <a:path w="883348" h="883348">
                <a:moveTo>
                  <a:pt x="0" y="0"/>
                </a:moveTo>
                <a:lnTo>
                  <a:pt x="883348" y="0"/>
                </a:lnTo>
                <a:lnTo>
                  <a:pt x="883348" y="883348"/>
                </a:lnTo>
                <a:lnTo>
                  <a:pt x="0" y="883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73430" y="7499667"/>
            <a:ext cx="497205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2308" y="7535227"/>
            <a:ext cx="6080091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Strategic Recommendations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92309" y="8382952"/>
            <a:ext cx="11137583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.Translate all findings into prioritised, actionable recommendations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covering routing automation, self-service portals,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agent training programmes, and dashboard design.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132809" y="1502418"/>
            <a:ext cx="3126491" cy="6766265"/>
            <a:chOff x="0" y="0"/>
            <a:chExt cx="553247" cy="11973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3247" cy="1197323"/>
            </a:xfrm>
            <a:custGeom>
              <a:avLst/>
              <a:gdLst/>
              <a:ahLst/>
              <a:cxnLst/>
              <a:rect l="l" t="t" r="r" b="b"/>
              <a:pathLst>
                <a:path w="553247" h="1197323">
                  <a:moveTo>
                    <a:pt x="553247" y="57747"/>
                  </a:moveTo>
                  <a:lnTo>
                    <a:pt x="553247" y="1197323"/>
                  </a:lnTo>
                  <a:lnTo>
                    <a:pt x="276624" y="1098263"/>
                  </a:lnTo>
                  <a:lnTo>
                    <a:pt x="0" y="1197323"/>
                  </a:lnTo>
                  <a:lnTo>
                    <a:pt x="0" y="57747"/>
                  </a:lnTo>
                  <a:cubicBezTo>
                    <a:pt x="0" y="22860"/>
                    <a:pt x="33195" y="0"/>
                    <a:pt x="71922" y="0"/>
                  </a:cubicBezTo>
                  <a:lnTo>
                    <a:pt x="481325" y="0"/>
                  </a:lnTo>
                  <a:cubicBezTo>
                    <a:pt x="520053" y="0"/>
                    <a:pt x="553247" y="21590"/>
                    <a:pt x="553247" y="61072"/>
                  </a:cubicBezTo>
                  <a:close/>
                </a:path>
              </a:pathLst>
            </a:custGeom>
            <a:solidFill>
              <a:srgbClr val="FFD6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553247" cy="1164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0997" y="2172261"/>
            <a:ext cx="16538303" cy="1672798"/>
          </a:xfrm>
          <a:custGeom>
            <a:avLst/>
            <a:gdLst/>
            <a:ahLst/>
            <a:cxnLst/>
            <a:rect l="l" t="t" r="r" b="b"/>
            <a:pathLst>
              <a:path w="16538303" h="1672798">
                <a:moveTo>
                  <a:pt x="0" y="0"/>
                </a:moveTo>
                <a:lnTo>
                  <a:pt x="16538303" y="0"/>
                </a:lnTo>
                <a:lnTo>
                  <a:pt x="16538303" y="1672798"/>
                </a:lnTo>
                <a:lnTo>
                  <a:pt x="0" y="1672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2" t="-19595" r="-1710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508802" y="4223600"/>
            <a:ext cx="7170830" cy="1139312"/>
            <a:chOff x="0" y="0"/>
            <a:chExt cx="1475479" cy="2344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5479" cy="234426"/>
            </a:xfrm>
            <a:custGeom>
              <a:avLst/>
              <a:gdLst/>
              <a:ahLst/>
              <a:cxnLst/>
              <a:rect l="l" t="t" r="r" b="b"/>
              <a:pathLst>
                <a:path w="1475479" h="234426">
                  <a:moveTo>
                    <a:pt x="21087" y="0"/>
                  </a:moveTo>
                  <a:lnTo>
                    <a:pt x="1454393" y="0"/>
                  </a:lnTo>
                  <a:cubicBezTo>
                    <a:pt x="1459985" y="0"/>
                    <a:pt x="1465349" y="2222"/>
                    <a:pt x="1469303" y="6176"/>
                  </a:cubicBezTo>
                  <a:cubicBezTo>
                    <a:pt x="1473258" y="10131"/>
                    <a:pt x="1475479" y="15494"/>
                    <a:pt x="1475479" y="21087"/>
                  </a:cubicBezTo>
                  <a:lnTo>
                    <a:pt x="1475479" y="213340"/>
                  </a:lnTo>
                  <a:cubicBezTo>
                    <a:pt x="1475479" y="218932"/>
                    <a:pt x="1473258" y="224296"/>
                    <a:pt x="1469303" y="228250"/>
                  </a:cubicBezTo>
                  <a:cubicBezTo>
                    <a:pt x="1465349" y="232205"/>
                    <a:pt x="1459985" y="234426"/>
                    <a:pt x="1454393" y="234426"/>
                  </a:cubicBezTo>
                  <a:lnTo>
                    <a:pt x="21087" y="234426"/>
                  </a:lnTo>
                  <a:cubicBezTo>
                    <a:pt x="15494" y="234426"/>
                    <a:pt x="10131" y="232205"/>
                    <a:pt x="6176" y="228250"/>
                  </a:cubicBezTo>
                  <a:cubicBezTo>
                    <a:pt x="2222" y="224296"/>
                    <a:pt x="0" y="218932"/>
                    <a:pt x="0" y="213340"/>
                  </a:cubicBezTo>
                  <a:lnTo>
                    <a:pt x="0" y="21087"/>
                  </a:lnTo>
                  <a:cubicBezTo>
                    <a:pt x="0" y="15494"/>
                    <a:pt x="2222" y="10131"/>
                    <a:pt x="6176" y="6176"/>
                  </a:cubicBezTo>
                  <a:cubicBezTo>
                    <a:pt x="10131" y="2222"/>
                    <a:pt x="15494" y="0"/>
                    <a:pt x="21087" y="0"/>
                  </a:cubicBezTo>
                  <a:close/>
                </a:path>
              </a:pathLst>
            </a:custGeom>
            <a:solidFill>
              <a:srgbClr val="FFC2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475479" cy="3106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268285"/>
            <a:ext cx="144780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 spc="495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851" y="2367311"/>
            <a:ext cx="16846006" cy="121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"Without data, you're just another person with an opinion." — W. Edwards Deming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8368" y="4608089"/>
            <a:ext cx="9261203" cy="4981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.Imagine an IT support division in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2016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a lean team of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agents handling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~1,088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 per month. . . . . . . .Operations felt controlled. Agents knew their queues. Satisfaction hovered at a healthy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4.10/5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endParaRPr lang="en-US" sz="2125" u="none" strike="noStrike" spc="24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.Then the demand curve bent sharply upward. By 2018, monthly volumes crossed 1,580. By 2020, a pandemic-fueled remote-work surge pushed the team to process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2,609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 in a single month — December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That's a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123%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increase in just four years, with no proportional increase in agents, technology, or process maturity.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endParaRPr lang="en-US" sz="2125" u="none" strike="noStrike" spc="24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questions that followed were existential: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05324" y="4304611"/>
            <a:ext cx="7345352" cy="94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78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do Hardware tickets take 7.63 days when Login Access resolves in 7 hours?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508802" y="5705813"/>
            <a:ext cx="7170830" cy="1145458"/>
            <a:chOff x="0" y="0"/>
            <a:chExt cx="1475479" cy="2356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75479" cy="235691"/>
            </a:xfrm>
            <a:custGeom>
              <a:avLst/>
              <a:gdLst/>
              <a:ahLst/>
              <a:cxnLst/>
              <a:rect l="l" t="t" r="r" b="b"/>
              <a:pathLst>
                <a:path w="1475479" h="235691">
                  <a:moveTo>
                    <a:pt x="21087" y="0"/>
                  </a:moveTo>
                  <a:lnTo>
                    <a:pt x="1454393" y="0"/>
                  </a:lnTo>
                  <a:cubicBezTo>
                    <a:pt x="1459985" y="0"/>
                    <a:pt x="1465349" y="2222"/>
                    <a:pt x="1469303" y="6176"/>
                  </a:cubicBezTo>
                  <a:cubicBezTo>
                    <a:pt x="1473258" y="10131"/>
                    <a:pt x="1475479" y="15494"/>
                    <a:pt x="1475479" y="21087"/>
                  </a:cubicBezTo>
                  <a:lnTo>
                    <a:pt x="1475479" y="214604"/>
                  </a:lnTo>
                  <a:cubicBezTo>
                    <a:pt x="1475479" y="220197"/>
                    <a:pt x="1473258" y="225560"/>
                    <a:pt x="1469303" y="229515"/>
                  </a:cubicBezTo>
                  <a:cubicBezTo>
                    <a:pt x="1465349" y="233469"/>
                    <a:pt x="1459985" y="235691"/>
                    <a:pt x="1454393" y="235691"/>
                  </a:cubicBezTo>
                  <a:lnTo>
                    <a:pt x="21087" y="235691"/>
                  </a:lnTo>
                  <a:cubicBezTo>
                    <a:pt x="15494" y="235691"/>
                    <a:pt x="10131" y="233469"/>
                    <a:pt x="6176" y="229515"/>
                  </a:cubicBezTo>
                  <a:cubicBezTo>
                    <a:pt x="2222" y="225560"/>
                    <a:pt x="0" y="220197"/>
                    <a:pt x="0" y="214604"/>
                  </a:cubicBezTo>
                  <a:lnTo>
                    <a:pt x="0" y="21087"/>
                  </a:lnTo>
                  <a:cubicBezTo>
                    <a:pt x="0" y="15494"/>
                    <a:pt x="2222" y="10131"/>
                    <a:pt x="6176" y="6176"/>
                  </a:cubicBezTo>
                  <a:cubicBezTo>
                    <a:pt x="10131" y="2222"/>
                    <a:pt x="15494" y="0"/>
                    <a:pt x="21087" y="0"/>
                  </a:cubicBezTo>
                  <a:close/>
                </a:path>
              </a:pathLst>
            </a:custGeom>
            <a:solidFill>
              <a:srgbClr val="FFC2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1475479" cy="311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08802" y="7248724"/>
            <a:ext cx="7170830" cy="1101212"/>
            <a:chOff x="0" y="0"/>
            <a:chExt cx="1475479" cy="2265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75479" cy="226587"/>
            </a:xfrm>
            <a:custGeom>
              <a:avLst/>
              <a:gdLst/>
              <a:ahLst/>
              <a:cxnLst/>
              <a:rect l="l" t="t" r="r" b="b"/>
              <a:pathLst>
                <a:path w="1475479" h="226587">
                  <a:moveTo>
                    <a:pt x="21087" y="0"/>
                  </a:moveTo>
                  <a:lnTo>
                    <a:pt x="1454393" y="0"/>
                  </a:lnTo>
                  <a:cubicBezTo>
                    <a:pt x="1459985" y="0"/>
                    <a:pt x="1465349" y="2222"/>
                    <a:pt x="1469303" y="6176"/>
                  </a:cubicBezTo>
                  <a:cubicBezTo>
                    <a:pt x="1473258" y="10131"/>
                    <a:pt x="1475479" y="15494"/>
                    <a:pt x="1475479" y="21087"/>
                  </a:cubicBezTo>
                  <a:lnTo>
                    <a:pt x="1475479" y="205500"/>
                  </a:lnTo>
                  <a:cubicBezTo>
                    <a:pt x="1475479" y="211093"/>
                    <a:pt x="1473258" y="216456"/>
                    <a:pt x="1469303" y="220411"/>
                  </a:cubicBezTo>
                  <a:cubicBezTo>
                    <a:pt x="1465349" y="224365"/>
                    <a:pt x="1459985" y="226587"/>
                    <a:pt x="1454393" y="226587"/>
                  </a:cubicBezTo>
                  <a:lnTo>
                    <a:pt x="21087" y="226587"/>
                  </a:lnTo>
                  <a:cubicBezTo>
                    <a:pt x="15494" y="226587"/>
                    <a:pt x="10131" y="224365"/>
                    <a:pt x="6176" y="220411"/>
                  </a:cubicBezTo>
                  <a:cubicBezTo>
                    <a:pt x="2222" y="216456"/>
                    <a:pt x="0" y="211093"/>
                    <a:pt x="0" y="205500"/>
                  </a:cubicBezTo>
                  <a:lnTo>
                    <a:pt x="0" y="21087"/>
                  </a:lnTo>
                  <a:cubicBezTo>
                    <a:pt x="0" y="15494"/>
                    <a:pt x="2222" y="10131"/>
                    <a:pt x="6176" y="6176"/>
                  </a:cubicBezTo>
                  <a:cubicBezTo>
                    <a:pt x="10131" y="2222"/>
                    <a:pt x="15494" y="0"/>
                    <a:pt x="21087" y="0"/>
                  </a:cubicBezTo>
                  <a:close/>
                </a:path>
              </a:pathLst>
            </a:custGeom>
            <a:solidFill>
              <a:srgbClr val="FFC2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1475479" cy="302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770911" y="5752158"/>
            <a:ext cx="7170830" cy="94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78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Who are the agents dragging satisfaction scores below 3.7?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05324" y="7314390"/>
            <a:ext cx="7345352" cy="94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78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are 30% of tickets drifting through</a:t>
            </a:r>
          </a:p>
          <a:p>
            <a:pPr marL="0" lvl="0" indent="0">
              <a:lnSpc>
                <a:spcPts val="378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system with no priority at all?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508802" y="8690619"/>
            <a:ext cx="7170830" cy="1101212"/>
            <a:chOff x="0" y="0"/>
            <a:chExt cx="1475479" cy="22658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75479" cy="226587"/>
            </a:xfrm>
            <a:custGeom>
              <a:avLst/>
              <a:gdLst/>
              <a:ahLst/>
              <a:cxnLst/>
              <a:rect l="l" t="t" r="r" b="b"/>
              <a:pathLst>
                <a:path w="1475479" h="226587">
                  <a:moveTo>
                    <a:pt x="21087" y="0"/>
                  </a:moveTo>
                  <a:lnTo>
                    <a:pt x="1454393" y="0"/>
                  </a:lnTo>
                  <a:cubicBezTo>
                    <a:pt x="1459985" y="0"/>
                    <a:pt x="1465349" y="2222"/>
                    <a:pt x="1469303" y="6176"/>
                  </a:cubicBezTo>
                  <a:cubicBezTo>
                    <a:pt x="1473258" y="10131"/>
                    <a:pt x="1475479" y="15494"/>
                    <a:pt x="1475479" y="21087"/>
                  </a:cubicBezTo>
                  <a:lnTo>
                    <a:pt x="1475479" y="205500"/>
                  </a:lnTo>
                  <a:cubicBezTo>
                    <a:pt x="1475479" y="211093"/>
                    <a:pt x="1473258" y="216456"/>
                    <a:pt x="1469303" y="220411"/>
                  </a:cubicBezTo>
                  <a:cubicBezTo>
                    <a:pt x="1465349" y="224365"/>
                    <a:pt x="1459985" y="226587"/>
                    <a:pt x="1454393" y="226587"/>
                  </a:cubicBezTo>
                  <a:lnTo>
                    <a:pt x="21087" y="226587"/>
                  </a:lnTo>
                  <a:cubicBezTo>
                    <a:pt x="15494" y="226587"/>
                    <a:pt x="10131" y="224365"/>
                    <a:pt x="6176" y="220411"/>
                  </a:cubicBezTo>
                  <a:cubicBezTo>
                    <a:pt x="2222" y="216456"/>
                    <a:pt x="0" y="211093"/>
                    <a:pt x="0" y="205500"/>
                  </a:cubicBezTo>
                  <a:lnTo>
                    <a:pt x="0" y="21087"/>
                  </a:lnTo>
                  <a:cubicBezTo>
                    <a:pt x="0" y="15494"/>
                    <a:pt x="2222" y="10131"/>
                    <a:pt x="6176" y="6176"/>
                  </a:cubicBezTo>
                  <a:cubicBezTo>
                    <a:pt x="10131" y="2222"/>
                    <a:pt x="15494" y="0"/>
                    <a:pt x="21087" y="0"/>
                  </a:cubicBezTo>
                  <a:close/>
                </a:path>
              </a:pathLst>
            </a:custGeom>
            <a:solidFill>
              <a:srgbClr val="FFC2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1475479" cy="302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976922" y="8794899"/>
            <a:ext cx="6234589" cy="94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78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the current team absorb another </a:t>
            </a:r>
          </a:p>
          <a:p>
            <a:pPr marL="0" lvl="0" indent="0">
              <a:lnSpc>
                <a:spcPts val="378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35% volume surge?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914" y="1439735"/>
            <a:ext cx="8760831" cy="3612785"/>
            <a:chOff x="0" y="0"/>
            <a:chExt cx="1802640" cy="7433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02640" cy="743371"/>
            </a:xfrm>
            <a:custGeom>
              <a:avLst/>
              <a:gdLst/>
              <a:ahLst/>
              <a:cxnLst/>
              <a:rect l="l" t="t" r="r" b="b"/>
              <a:pathLst>
                <a:path w="1802640" h="743371">
                  <a:moveTo>
                    <a:pt x="17260" y="0"/>
                  </a:moveTo>
                  <a:lnTo>
                    <a:pt x="1785381" y="0"/>
                  </a:lnTo>
                  <a:cubicBezTo>
                    <a:pt x="1794913" y="0"/>
                    <a:pt x="1802640" y="7727"/>
                    <a:pt x="1802640" y="17260"/>
                  </a:cubicBezTo>
                  <a:lnTo>
                    <a:pt x="1802640" y="726112"/>
                  </a:lnTo>
                  <a:cubicBezTo>
                    <a:pt x="1802640" y="735644"/>
                    <a:pt x="1794913" y="743371"/>
                    <a:pt x="1785381" y="743371"/>
                  </a:cubicBezTo>
                  <a:lnTo>
                    <a:pt x="17260" y="743371"/>
                  </a:lnTo>
                  <a:cubicBezTo>
                    <a:pt x="7727" y="743371"/>
                    <a:pt x="0" y="735644"/>
                    <a:pt x="0" y="726112"/>
                  </a:cubicBezTo>
                  <a:lnTo>
                    <a:pt x="0" y="17260"/>
                  </a:lnTo>
                  <a:cubicBezTo>
                    <a:pt x="0" y="7727"/>
                    <a:pt x="7727" y="0"/>
                    <a:pt x="1726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rnd">
              <a:solidFill>
                <a:srgbClr val="FF313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802640" cy="819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4914" y="5366845"/>
            <a:ext cx="8760831" cy="3816166"/>
            <a:chOff x="0" y="0"/>
            <a:chExt cx="1802640" cy="785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2640" cy="785219"/>
            </a:xfrm>
            <a:custGeom>
              <a:avLst/>
              <a:gdLst/>
              <a:ahLst/>
              <a:cxnLst/>
              <a:rect l="l" t="t" r="r" b="b"/>
              <a:pathLst>
                <a:path w="1802640" h="785219">
                  <a:moveTo>
                    <a:pt x="17260" y="0"/>
                  </a:moveTo>
                  <a:lnTo>
                    <a:pt x="1785381" y="0"/>
                  </a:lnTo>
                  <a:cubicBezTo>
                    <a:pt x="1794913" y="0"/>
                    <a:pt x="1802640" y="7727"/>
                    <a:pt x="1802640" y="17260"/>
                  </a:cubicBezTo>
                  <a:lnTo>
                    <a:pt x="1802640" y="767960"/>
                  </a:lnTo>
                  <a:cubicBezTo>
                    <a:pt x="1802640" y="777492"/>
                    <a:pt x="1794913" y="785219"/>
                    <a:pt x="1785381" y="785219"/>
                  </a:cubicBezTo>
                  <a:lnTo>
                    <a:pt x="17260" y="785219"/>
                  </a:lnTo>
                  <a:cubicBezTo>
                    <a:pt x="7727" y="785219"/>
                    <a:pt x="0" y="777492"/>
                    <a:pt x="0" y="767960"/>
                  </a:cubicBezTo>
                  <a:lnTo>
                    <a:pt x="0" y="17260"/>
                  </a:lnTo>
                  <a:cubicBezTo>
                    <a:pt x="0" y="7727"/>
                    <a:pt x="7727" y="0"/>
                    <a:pt x="1726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rnd">
              <a:solidFill>
                <a:srgbClr val="CCA3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02640" cy="832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46184" y="1439735"/>
            <a:ext cx="8484037" cy="3612785"/>
            <a:chOff x="0" y="0"/>
            <a:chExt cx="1745687" cy="7433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5686" cy="743371"/>
            </a:xfrm>
            <a:custGeom>
              <a:avLst/>
              <a:gdLst/>
              <a:ahLst/>
              <a:cxnLst/>
              <a:rect l="l" t="t" r="r" b="b"/>
              <a:pathLst>
                <a:path w="1745686" h="743371">
                  <a:moveTo>
                    <a:pt x="17823" y="0"/>
                  </a:moveTo>
                  <a:lnTo>
                    <a:pt x="1727864" y="0"/>
                  </a:lnTo>
                  <a:cubicBezTo>
                    <a:pt x="1732591" y="0"/>
                    <a:pt x="1737124" y="1878"/>
                    <a:pt x="1740466" y="5220"/>
                  </a:cubicBezTo>
                  <a:cubicBezTo>
                    <a:pt x="1743809" y="8563"/>
                    <a:pt x="1745686" y="13096"/>
                    <a:pt x="1745686" y="17823"/>
                  </a:cubicBezTo>
                  <a:lnTo>
                    <a:pt x="1745686" y="725549"/>
                  </a:lnTo>
                  <a:cubicBezTo>
                    <a:pt x="1745686" y="730276"/>
                    <a:pt x="1743809" y="734809"/>
                    <a:pt x="1740466" y="738151"/>
                  </a:cubicBezTo>
                  <a:cubicBezTo>
                    <a:pt x="1737124" y="741494"/>
                    <a:pt x="1732591" y="743371"/>
                    <a:pt x="1727864" y="743371"/>
                  </a:cubicBezTo>
                  <a:lnTo>
                    <a:pt x="17823" y="743371"/>
                  </a:lnTo>
                  <a:cubicBezTo>
                    <a:pt x="13096" y="743371"/>
                    <a:pt x="8563" y="741494"/>
                    <a:pt x="5220" y="738151"/>
                  </a:cubicBezTo>
                  <a:cubicBezTo>
                    <a:pt x="1878" y="734809"/>
                    <a:pt x="0" y="730276"/>
                    <a:pt x="0" y="725549"/>
                  </a:cubicBezTo>
                  <a:lnTo>
                    <a:pt x="0" y="17823"/>
                  </a:lnTo>
                  <a:cubicBezTo>
                    <a:pt x="0" y="13096"/>
                    <a:pt x="1878" y="8563"/>
                    <a:pt x="5220" y="5220"/>
                  </a:cubicBezTo>
                  <a:cubicBezTo>
                    <a:pt x="8563" y="1878"/>
                    <a:pt x="13096" y="0"/>
                    <a:pt x="17823" y="0"/>
                  </a:cubicBezTo>
                  <a:close/>
                </a:path>
              </a:pathLst>
            </a:custGeom>
            <a:solidFill>
              <a:srgbClr val="FFFFFF"/>
            </a:solidFill>
            <a:ln w="133350" cap="rnd">
              <a:solidFill>
                <a:srgbClr val="E2A9F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1745687" cy="819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46184" y="5366845"/>
            <a:ext cx="8484037" cy="3816166"/>
            <a:chOff x="0" y="0"/>
            <a:chExt cx="1745687" cy="7852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5686" cy="785219"/>
            </a:xfrm>
            <a:custGeom>
              <a:avLst/>
              <a:gdLst/>
              <a:ahLst/>
              <a:cxnLst/>
              <a:rect l="l" t="t" r="r" b="b"/>
              <a:pathLst>
                <a:path w="1745686" h="785219">
                  <a:moveTo>
                    <a:pt x="17823" y="0"/>
                  </a:moveTo>
                  <a:lnTo>
                    <a:pt x="1727864" y="0"/>
                  </a:lnTo>
                  <a:cubicBezTo>
                    <a:pt x="1732591" y="0"/>
                    <a:pt x="1737124" y="1878"/>
                    <a:pt x="1740466" y="5220"/>
                  </a:cubicBezTo>
                  <a:cubicBezTo>
                    <a:pt x="1743809" y="8563"/>
                    <a:pt x="1745686" y="13096"/>
                    <a:pt x="1745686" y="17823"/>
                  </a:cubicBezTo>
                  <a:lnTo>
                    <a:pt x="1745686" y="767397"/>
                  </a:lnTo>
                  <a:cubicBezTo>
                    <a:pt x="1745686" y="772123"/>
                    <a:pt x="1743809" y="776657"/>
                    <a:pt x="1740466" y="779999"/>
                  </a:cubicBezTo>
                  <a:cubicBezTo>
                    <a:pt x="1737124" y="783342"/>
                    <a:pt x="1732591" y="785219"/>
                    <a:pt x="1727864" y="785219"/>
                  </a:cubicBezTo>
                  <a:lnTo>
                    <a:pt x="17823" y="785219"/>
                  </a:lnTo>
                  <a:cubicBezTo>
                    <a:pt x="13096" y="785219"/>
                    <a:pt x="8563" y="783342"/>
                    <a:pt x="5220" y="779999"/>
                  </a:cubicBezTo>
                  <a:cubicBezTo>
                    <a:pt x="1878" y="776657"/>
                    <a:pt x="0" y="772123"/>
                    <a:pt x="0" y="767397"/>
                  </a:cubicBezTo>
                  <a:lnTo>
                    <a:pt x="0" y="17823"/>
                  </a:lnTo>
                  <a:cubicBezTo>
                    <a:pt x="0" y="13096"/>
                    <a:pt x="1878" y="8563"/>
                    <a:pt x="5220" y="5220"/>
                  </a:cubicBezTo>
                  <a:cubicBezTo>
                    <a:pt x="8563" y="1878"/>
                    <a:pt x="13096" y="0"/>
                    <a:pt x="17823" y="0"/>
                  </a:cubicBezTo>
                  <a:close/>
                </a:path>
              </a:pathLst>
            </a:custGeom>
            <a:solidFill>
              <a:srgbClr val="FFFFFF"/>
            </a:solidFill>
            <a:ln w="133350" cap="rnd">
              <a:solidFill>
                <a:srgbClr val="C2CD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745687" cy="861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89592" y="1833266"/>
            <a:ext cx="1078217" cy="1078217"/>
          </a:xfrm>
          <a:custGeom>
            <a:avLst/>
            <a:gdLst/>
            <a:ahLst/>
            <a:cxnLst/>
            <a:rect l="l" t="t" r="r" b="b"/>
            <a:pathLst>
              <a:path w="1078217" h="1078217">
                <a:moveTo>
                  <a:pt x="0" y="0"/>
                </a:moveTo>
                <a:lnTo>
                  <a:pt x="1078216" y="0"/>
                </a:lnTo>
                <a:lnTo>
                  <a:pt x="1078216" y="1078217"/>
                </a:lnTo>
                <a:lnTo>
                  <a:pt x="0" y="1078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-154859" y="395358"/>
            <a:ext cx="16872148" cy="15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spc="2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PROBLEM STATEMENT — </a:t>
            </a:r>
            <a:r>
              <a:rPr lang="en-US" sz="4299" b="1" u="none" strike="noStrike" spc="2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CORE PROBLEMS IDENTIFIED</a:t>
            </a: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endParaRPr lang="en-US" sz="4299" b="1" u="none" strike="noStrike" spc="266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25066" y="2259668"/>
            <a:ext cx="1007269" cy="27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A</a:t>
            </a:r>
          </a:p>
        </p:txBody>
      </p:sp>
      <p:sp>
        <p:nvSpPr>
          <p:cNvPr id="17" name="Freeform 17"/>
          <p:cNvSpPr/>
          <p:nvPr/>
        </p:nvSpPr>
        <p:spPr>
          <a:xfrm>
            <a:off x="9632840" y="1895863"/>
            <a:ext cx="1078217" cy="1078217"/>
          </a:xfrm>
          <a:custGeom>
            <a:avLst/>
            <a:gdLst/>
            <a:ahLst/>
            <a:cxnLst/>
            <a:rect l="l" t="t" r="r" b="b"/>
            <a:pathLst>
              <a:path w="1078217" h="1078217">
                <a:moveTo>
                  <a:pt x="0" y="0"/>
                </a:moveTo>
                <a:lnTo>
                  <a:pt x="1078217" y="0"/>
                </a:lnTo>
                <a:lnTo>
                  <a:pt x="1078217" y="1078217"/>
                </a:lnTo>
                <a:lnTo>
                  <a:pt x="0" y="1078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632840" y="5669232"/>
            <a:ext cx="1078217" cy="1078217"/>
          </a:xfrm>
          <a:custGeom>
            <a:avLst/>
            <a:gdLst/>
            <a:ahLst/>
            <a:cxnLst/>
            <a:rect l="l" t="t" r="r" b="b"/>
            <a:pathLst>
              <a:path w="1078217" h="1078217">
                <a:moveTo>
                  <a:pt x="0" y="0"/>
                </a:moveTo>
                <a:lnTo>
                  <a:pt x="1078217" y="0"/>
                </a:lnTo>
                <a:lnTo>
                  <a:pt x="1078217" y="1078217"/>
                </a:lnTo>
                <a:lnTo>
                  <a:pt x="0" y="1078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25066" y="5719270"/>
            <a:ext cx="1078217" cy="1078217"/>
          </a:xfrm>
          <a:custGeom>
            <a:avLst/>
            <a:gdLst/>
            <a:ahLst/>
            <a:cxnLst/>
            <a:rect l="l" t="t" r="r" b="b"/>
            <a:pathLst>
              <a:path w="1078217" h="1078217">
                <a:moveTo>
                  <a:pt x="0" y="0"/>
                </a:moveTo>
                <a:lnTo>
                  <a:pt x="1078217" y="0"/>
                </a:lnTo>
                <a:lnTo>
                  <a:pt x="1078217" y="1078217"/>
                </a:lnTo>
                <a:lnTo>
                  <a:pt x="0" y="10782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9675755" y="2340630"/>
            <a:ext cx="992386" cy="27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B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0540" y="6160716"/>
            <a:ext cx="1012031" cy="27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75755" y="6046416"/>
            <a:ext cx="1005364" cy="27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0857" y="1791997"/>
            <a:ext cx="8130074" cy="37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Priority Routing Failure — 30.2% Unassigned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2880546" y="2949583"/>
            <a:ext cx="8130074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29,410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62069" y="2513789"/>
            <a:ext cx="7466393" cy="228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Nearly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1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 carry '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Unassiged' (also misspelled) priority status, meaning they enter the queue with no urgency classification. These tickets average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5.31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days to resolve —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52%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longer than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High-priority tickets.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03963" y="1838713"/>
            <a:ext cx="8484037" cy="37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Resolution — Operational Bottleneck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21998" y="2949583"/>
            <a:ext cx="8692286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E2A9F1"/>
                </a:solidFill>
                <a:latin typeface="Poppins Bold"/>
                <a:ea typeface="Poppins Bold"/>
                <a:cs typeface="Poppins Bold"/>
                <a:sym typeface="Poppins Bold"/>
              </a:rPr>
              <a:t>7.63 days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-3182673" y="3532840"/>
            <a:ext cx="8760831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unrouted tickets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26123" y="3532841"/>
            <a:ext cx="8484037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 u="none" strike="noStrike">
                <a:solidFill>
                  <a:srgbClr val="E2A9F1"/>
                </a:solidFill>
                <a:latin typeface="Poppins Bold"/>
                <a:ea typeface="Poppins Bold"/>
                <a:cs typeface="Poppins Bold"/>
                <a:sym typeface="Poppins Bold"/>
              </a:rPr>
              <a:t>avg. resolution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49232" y="2221003"/>
            <a:ext cx="6271768" cy="267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tickets are the smallest category (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9.98%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but carry the heaviest resolution burden. At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7.63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days, they take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68%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longer than the team average, consuming disproportionate agent bandwidth and delaying other queues.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14914" y="5718757"/>
            <a:ext cx="8760831" cy="37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Agent Performance Disparity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-3195924" y="6864162"/>
            <a:ext cx="8760831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CCA300"/>
                </a:solidFill>
                <a:latin typeface="Poppins Bold"/>
                <a:ea typeface="Poppins Bold"/>
                <a:cs typeface="Poppins Bold"/>
                <a:sym typeface="Poppins Bold"/>
              </a:rPr>
              <a:t>1.56 pts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-3036337" y="7447727"/>
            <a:ext cx="8760831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 u="none" strike="noStrike">
                <a:solidFill>
                  <a:srgbClr val="CCA300"/>
                </a:solidFill>
                <a:latin typeface="Poppins Bold"/>
                <a:ea typeface="Poppins Bold"/>
                <a:cs typeface="Poppins Bold"/>
                <a:sym typeface="Poppins Bold"/>
              </a:rPr>
              <a:t>satisfaction gap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77055" y="6494302"/>
            <a:ext cx="6894814" cy="228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best agent (Diana Rojo,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4.60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and worst agent (Alfonso Barraza,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3.04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are separated by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1.56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points on a 5-point scale.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12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agents score below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3.75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signaling a structural training and coaching gap.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75755" y="5804995"/>
            <a:ext cx="8484037" cy="37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Volume Growth Outpacing Capacity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21998" y="6814124"/>
            <a:ext cx="8484037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C2CDFF"/>
                </a:solidFill>
                <a:latin typeface="Poppins Bold"/>
                <a:ea typeface="Poppins Bold"/>
                <a:cs typeface="Poppins Bold"/>
                <a:sym typeface="Poppins Bold"/>
              </a:rPr>
              <a:t>+35.4%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53882" y="7333427"/>
            <a:ext cx="1140381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 u="none" strike="noStrike">
                <a:solidFill>
                  <a:srgbClr val="C2CDFF"/>
                </a:solidFill>
                <a:latin typeface="Poppins Bold"/>
                <a:ea typeface="Poppins Bold"/>
                <a:cs typeface="Poppins Bold"/>
                <a:sym typeface="Poppins Bold"/>
              </a:rPr>
              <a:t>2020 surge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78734" y="6411991"/>
            <a:ext cx="6385992" cy="228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added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7,598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more tickets than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2019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equivalent to adding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1.5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months of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2016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volume in a single year. Without automated triage and self-service portals, the team cannot sustain another such surge.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1526486533"/>
              </p:ext>
            </p:extLst>
          </p:nvPr>
        </p:nvGraphicFramePr>
        <p:xfrm>
          <a:off x="379137" y="2889249"/>
          <a:ext cx="113157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3576300" imgH="5689600" progId="Excel.Sheet.12">
                  <p:embed/>
                </p:oleObj>
              </mc:Choice>
              <mc:Fallback>
                <p:oleObj name="Worksheet" r:id="rId3" imgW="13576300" imgH="5689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137" y="2889249"/>
                        <a:ext cx="11315700" cy="342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2003366" y="1465619"/>
            <a:ext cx="6006295" cy="3677881"/>
            <a:chOff x="0" y="0"/>
            <a:chExt cx="1581905" cy="9686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1905" cy="968660"/>
            </a:xfrm>
            <a:custGeom>
              <a:avLst/>
              <a:gdLst/>
              <a:ahLst/>
              <a:cxnLst/>
              <a:rect l="l" t="t" r="r" b="b"/>
              <a:pathLst>
                <a:path w="1581905" h="968660">
                  <a:moveTo>
                    <a:pt x="0" y="0"/>
                  </a:moveTo>
                  <a:lnTo>
                    <a:pt x="1581905" y="0"/>
                  </a:lnTo>
                  <a:lnTo>
                    <a:pt x="1581905" y="968660"/>
                  </a:lnTo>
                  <a:lnTo>
                    <a:pt x="0" y="96866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581905" cy="1044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03366" y="5595373"/>
            <a:ext cx="6006295" cy="3987599"/>
            <a:chOff x="0" y="0"/>
            <a:chExt cx="1581905" cy="10502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1905" cy="1050232"/>
            </a:xfrm>
            <a:custGeom>
              <a:avLst/>
              <a:gdLst/>
              <a:ahLst/>
              <a:cxnLst/>
              <a:rect l="l" t="t" r="r" b="b"/>
              <a:pathLst>
                <a:path w="1581905" h="1050232">
                  <a:moveTo>
                    <a:pt x="0" y="0"/>
                  </a:moveTo>
                  <a:lnTo>
                    <a:pt x="1581905" y="0"/>
                  </a:lnTo>
                  <a:lnTo>
                    <a:pt x="1581905" y="1050232"/>
                  </a:lnTo>
                  <a:lnTo>
                    <a:pt x="0" y="105023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581905" cy="1126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9438" y="290195"/>
            <a:ext cx="15259162" cy="738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b="1" u="none" strike="noStrike" spc="266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PROBLEM STATEMENT — DATA QUALITY ISSUES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30364" y="2593004"/>
            <a:ext cx="501324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QUALITY AUDIT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9600" y="6977683"/>
            <a:ext cx="39294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 u="none" strike="noStrike" dirty="0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⚠ DATA QUALITY ALERT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9438" y="8098453"/>
            <a:ext cx="11120248" cy="190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Priority column contains </a:t>
            </a:r>
            <a:r>
              <a:rPr lang="en-US" sz="2125" u="none" strike="noStrike" spc="244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29,410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records with '</a:t>
            </a:r>
            <a:r>
              <a:rPr lang="en-US" sz="2125" u="none" strike="noStrike" spc="244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Unassiged' — both a routing failure and a spelling error. These tickets lack urgency classification, inflating average resolution times and preventing accurate SLA tracking. Immediate data governance action is required.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03366" y="1767946"/>
            <a:ext cx="6006295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 u="none" strike="noStrike">
                <a:solidFill>
                  <a:srgbClr val="27AE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SCHEMA STRENGTHS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74927" y="2362296"/>
            <a:ext cx="7580034" cy="74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27AE60"/>
                </a:solidFill>
                <a:latin typeface="Poppins"/>
                <a:ea typeface="Poppins"/>
                <a:cs typeface="Poppins"/>
                <a:sym typeface="Poppins"/>
              </a:rPr>
              <a:t>✓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NULL values in either dataset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(0.00%).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51445" y="3244346"/>
            <a:ext cx="6006296" cy="746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27AE60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Balanced agent load distribution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(~1,950 tickets/agent).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04163" y="4120311"/>
            <a:ext cx="7650798" cy="746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27AE60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4 distinct ticket categories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enable segmentation.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98000" y="5703657"/>
            <a:ext cx="3894599" cy="448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 u="none" strike="noStrike" dirty="0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SCHEMA LIMITATIONS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51445" y="6234425"/>
            <a:ext cx="5823990" cy="74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✗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department field — limits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organizational segmentation.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74927" y="7210687"/>
            <a:ext cx="4977408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escalation flag — cannot</a:t>
            </a:r>
          </a:p>
          <a:p>
            <a:pPr lvl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track inter-team transfers.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endParaRPr lang="en-US" sz="2125" u="none" strike="noStrike" spc="24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174927" y="8249162"/>
            <a:ext cx="5188148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✗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Agent gender not captured —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restricts equity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116" y="2334437"/>
            <a:ext cx="8373476" cy="2988814"/>
            <a:chOff x="0" y="0"/>
            <a:chExt cx="1722938" cy="6149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2937" cy="614982"/>
            </a:xfrm>
            <a:custGeom>
              <a:avLst/>
              <a:gdLst/>
              <a:ahLst/>
              <a:cxnLst/>
              <a:rect l="l" t="t" r="r" b="b"/>
              <a:pathLst>
                <a:path w="1722937" h="614982">
                  <a:moveTo>
                    <a:pt x="18058" y="0"/>
                  </a:moveTo>
                  <a:lnTo>
                    <a:pt x="1704879" y="0"/>
                  </a:lnTo>
                  <a:cubicBezTo>
                    <a:pt x="1709669" y="0"/>
                    <a:pt x="1714262" y="1903"/>
                    <a:pt x="1717648" y="5289"/>
                  </a:cubicBezTo>
                  <a:cubicBezTo>
                    <a:pt x="1721035" y="8676"/>
                    <a:pt x="1722937" y="13269"/>
                    <a:pt x="1722937" y="18058"/>
                  </a:cubicBezTo>
                  <a:lnTo>
                    <a:pt x="1722937" y="596924"/>
                  </a:lnTo>
                  <a:cubicBezTo>
                    <a:pt x="1722937" y="601714"/>
                    <a:pt x="1721035" y="606307"/>
                    <a:pt x="1717648" y="609693"/>
                  </a:cubicBezTo>
                  <a:cubicBezTo>
                    <a:pt x="1714262" y="613080"/>
                    <a:pt x="1709669" y="614982"/>
                    <a:pt x="1704879" y="614982"/>
                  </a:cubicBezTo>
                  <a:lnTo>
                    <a:pt x="18058" y="614982"/>
                  </a:lnTo>
                  <a:cubicBezTo>
                    <a:pt x="13269" y="614982"/>
                    <a:pt x="8676" y="613080"/>
                    <a:pt x="5289" y="609693"/>
                  </a:cubicBezTo>
                  <a:cubicBezTo>
                    <a:pt x="1903" y="606307"/>
                    <a:pt x="0" y="601714"/>
                    <a:pt x="0" y="596924"/>
                  </a:cubicBezTo>
                  <a:lnTo>
                    <a:pt x="0" y="18058"/>
                  </a:lnTo>
                  <a:cubicBezTo>
                    <a:pt x="0" y="13269"/>
                    <a:pt x="1903" y="8676"/>
                    <a:pt x="5289" y="5289"/>
                  </a:cubicBezTo>
                  <a:cubicBezTo>
                    <a:pt x="8676" y="1903"/>
                    <a:pt x="13269" y="0"/>
                    <a:pt x="18058" y="0"/>
                  </a:cubicBezTo>
                  <a:close/>
                </a:path>
              </a:pathLst>
            </a:custGeom>
            <a:solidFill>
              <a:srgbClr val="C2CD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722938" cy="691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2736" y="268285"/>
            <a:ext cx="12890063" cy="136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 spc="49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STRATEGIC FINDINGS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3166" y="2578104"/>
            <a:ext cx="4678034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Routing System Failure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0554" y="2578104"/>
            <a:ext cx="13239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30.2%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70296" y="3087468"/>
            <a:ext cx="17002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tickets unrouted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7515" y="3345646"/>
            <a:ext cx="7112488" cy="190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29,410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 carry '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Unassigned' priority — a routing module failure inflating resolution times to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5.31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for this cohort vs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3.49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days for High-priority tickets.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4000" y="2334437"/>
            <a:ext cx="8508293" cy="2988814"/>
            <a:chOff x="0" y="0"/>
            <a:chExt cx="1750677" cy="6149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0677" cy="614982"/>
            </a:xfrm>
            <a:custGeom>
              <a:avLst/>
              <a:gdLst/>
              <a:ahLst/>
              <a:cxnLst/>
              <a:rect l="l" t="t" r="r" b="b"/>
              <a:pathLst>
                <a:path w="1750677" h="614982">
                  <a:moveTo>
                    <a:pt x="17772" y="0"/>
                  </a:moveTo>
                  <a:lnTo>
                    <a:pt x="1732905" y="0"/>
                  </a:lnTo>
                  <a:cubicBezTo>
                    <a:pt x="1737619" y="0"/>
                    <a:pt x="1742139" y="1872"/>
                    <a:pt x="1745472" y="5205"/>
                  </a:cubicBezTo>
                  <a:cubicBezTo>
                    <a:pt x="1748805" y="8538"/>
                    <a:pt x="1750677" y="13059"/>
                    <a:pt x="1750677" y="17772"/>
                  </a:cubicBezTo>
                  <a:lnTo>
                    <a:pt x="1750677" y="597210"/>
                  </a:lnTo>
                  <a:cubicBezTo>
                    <a:pt x="1750677" y="601924"/>
                    <a:pt x="1748805" y="606444"/>
                    <a:pt x="1745472" y="609777"/>
                  </a:cubicBezTo>
                  <a:cubicBezTo>
                    <a:pt x="1742139" y="613110"/>
                    <a:pt x="1737619" y="614982"/>
                    <a:pt x="1732905" y="614982"/>
                  </a:cubicBezTo>
                  <a:lnTo>
                    <a:pt x="17772" y="614982"/>
                  </a:lnTo>
                  <a:cubicBezTo>
                    <a:pt x="13059" y="614982"/>
                    <a:pt x="8538" y="613110"/>
                    <a:pt x="5205" y="609777"/>
                  </a:cubicBezTo>
                  <a:cubicBezTo>
                    <a:pt x="1872" y="606444"/>
                    <a:pt x="0" y="601924"/>
                    <a:pt x="0" y="597210"/>
                  </a:cubicBezTo>
                  <a:lnTo>
                    <a:pt x="0" y="17772"/>
                  </a:lnTo>
                  <a:cubicBezTo>
                    <a:pt x="0" y="13059"/>
                    <a:pt x="1872" y="8538"/>
                    <a:pt x="5205" y="5205"/>
                  </a:cubicBezTo>
                  <a:cubicBezTo>
                    <a:pt x="8538" y="1872"/>
                    <a:pt x="13059" y="0"/>
                    <a:pt x="17772" y="0"/>
                  </a:cubicBezTo>
                  <a:close/>
                </a:path>
              </a:pathLst>
            </a:custGeom>
            <a:solidFill>
              <a:srgbClr val="C2CD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1750677" cy="691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351074" y="2592170"/>
            <a:ext cx="5563321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Resolution Crisis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07389" y="2592170"/>
            <a:ext cx="2093634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7.63 days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68851" y="2989852"/>
            <a:ext cx="1686946" cy="555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avg.                                              resolution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9774" y="3594289"/>
            <a:ext cx="7912059" cy="151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tickets resolve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68%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above the overall average and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24.5×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slower than Login Access tickets 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0.31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days), representing the single largest operational bottleneck.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3116" y="6018576"/>
            <a:ext cx="8373476" cy="2988814"/>
            <a:chOff x="0" y="0"/>
            <a:chExt cx="1722938" cy="6149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22937" cy="614982"/>
            </a:xfrm>
            <a:custGeom>
              <a:avLst/>
              <a:gdLst/>
              <a:ahLst/>
              <a:cxnLst/>
              <a:rect l="l" t="t" r="r" b="b"/>
              <a:pathLst>
                <a:path w="1722937" h="614982">
                  <a:moveTo>
                    <a:pt x="18058" y="0"/>
                  </a:moveTo>
                  <a:lnTo>
                    <a:pt x="1704879" y="0"/>
                  </a:lnTo>
                  <a:cubicBezTo>
                    <a:pt x="1709669" y="0"/>
                    <a:pt x="1714262" y="1903"/>
                    <a:pt x="1717648" y="5289"/>
                  </a:cubicBezTo>
                  <a:cubicBezTo>
                    <a:pt x="1721035" y="8676"/>
                    <a:pt x="1722937" y="13269"/>
                    <a:pt x="1722937" y="18058"/>
                  </a:cubicBezTo>
                  <a:lnTo>
                    <a:pt x="1722937" y="596924"/>
                  </a:lnTo>
                  <a:cubicBezTo>
                    <a:pt x="1722937" y="601714"/>
                    <a:pt x="1721035" y="606307"/>
                    <a:pt x="1717648" y="609693"/>
                  </a:cubicBezTo>
                  <a:cubicBezTo>
                    <a:pt x="1714262" y="613080"/>
                    <a:pt x="1709669" y="614982"/>
                    <a:pt x="1704879" y="614982"/>
                  </a:cubicBezTo>
                  <a:lnTo>
                    <a:pt x="18058" y="614982"/>
                  </a:lnTo>
                  <a:cubicBezTo>
                    <a:pt x="13269" y="614982"/>
                    <a:pt x="8676" y="613080"/>
                    <a:pt x="5289" y="609693"/>
                  </a:cubicBezTo>
                  <a:cubicBezTo>
                    <a:pt x="1903" y="606307"/>
                    <a:pt x="0" y="601714"/>
                    <a:pt x="0" y="596924"/>
                  </a:cubicBezTo>
                  <a:lnTo>
                    <a:pt x="0" y="18058"/>
                  </a:lnTo>
                  <a:cubicBezTo>
                    <a:pt x="0" y="13269"/>
                    <a:pt x="1903" y="8676"/>
                    <a:pt x="5289" y="5289"/>
                  </a:cubicBezTo>
                  <a:cubicBezTo>
                    <a:pt x="8676" y="1903"/>
                    <a:pt x="13269" y="0"/>
                    <a:pt x="18058" y="0"/>
                  </a:cubicBezTo>
                  <a:close/>
                </a:path>
              </a:pathLst>
            </a:custGeom>
            <a:solidFill>
              <a:srgbClr val="C2CD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722938" cy="691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33901" y="6218333"/>
            <a:ext cx="287250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Volume Surge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49481" y="6177204"/>
            <a:ext cx="1431548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+123%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39671" y="6640774"/>
            <a:ext cx="1550551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5-year growth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1893" y="6962859"/>
            <a:ext cx="7423731" cy="1903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Ticket volume grew from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13,051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2016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29,088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35.4%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spike in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likely COVID-driven — signals the current capacity model cannot sustain another such year.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0" y="6010275"/>
            <a:ext cx="8508293" cy="2988814"/>
            <a:chOff x="0" y="0"/>
            <a:chExt cx="1750677" cy="6149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50677" cy="614982"/>
            </a:xfrm>
            <a:custGeom>
              <a:avLst/>
              <a:gdLst/>
              <a:ahLst/>
              <a:cxnLst/>
              <a:rect l="l" t="t" r="r" b="b"/>
              <a:pathLst>
                <a:path w="1750677" h="614982">
                  <a:moveTo>
                    <a:pt x="17772" y="0"/>
                  </a:moveTo>
                  <a:lnTo>
                    <a:pt x="1732905" y="0"/>
                  </a:lnTo>
                  <a:cubicBezTo>
                    <a:pt x="1737619" y="0"/>
                    <a:pt x="1742139" y="1872"/>
                    <a:pt x="1745472" y="5205"/>
                  </a:cubicBezTo>
                  <a:cubicBezTo>
                    <a:pt x="1748805" y="8538"/>
                    <a:pt x="1750677" y="13059"/>
                    <a:pt x="1750677" y="17772"/>
                  </a:cubicBezTo>
                  <a:lnTo>
                    <a:pt x="1750677" y="597210"/>
                  </a:lnTo>
                  <a:cubicBezTo>
                    <a:pt x="1750677" y="601924"/>
                    <a:pt x="1748805" y="606444"/>
                    <a:pt x="1745472" y="609777"/>
                  </a:cubicBezTo>
                  <a:cubicBezTo>
                    <a:pt x="1742139" y="613110"/>
                    <a:pt x="1737619" y="614982"/>
                    <a:pt x="1732905" y="614982"/>
                  </a:cubicBezTo>
                  <a:lnTo>
                    <a:pt x="17772" y="614982"/>
                  </a:lnTo>
                  <a:cubicBezTo>
                    <a:pt x="13059" y="614982"/>
                    <a:pt x="8538" y="613110"/>
                    <a:pt x="5205" y="609777"/>
                  </a:cubicBezTo>
                  <a:cubicBezTo>
                    <a:pt x="1872" y="606444"/>
                    <a:pt x="0" y="601924"/>
                    <a:pt x="0" y="597210"/>
                  </a:cubicBezTo>
                  <a:lnTo>
                    <a:pt x="0" y="17772"/>
                  </a:lnTo>
                  <a:cubicBezTo>
                    <a:pt x="0" y="13059"/>
                    <a:pt x="1872" y="8538"/>
                    <a:pt x="5205" y="5205"/>
                  </a:cubicBezTo>
                  <a:cubicBezTo>
                    <a:pt x="8538" y="1872"/>
                    <a:pt x="13059" y="0"/>
                    <a:pt x="17772" y="0"/>
                  </a:cubicBezTo>
                  <a:close/>
                </a:path>
              </a:pathLst>
            </a:custGeom>
            <a:solidFill>
              <a:srgbClr val="C2CD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1750677" cy="691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216448" y="6218333"/>
            <a:ext cx="6087846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 Performance Inequality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66504" y="6163327"/>
            <a:ext cx="234490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3.04 vs 4.60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667265" y="6581552"/>
            <a:ext cx="1890117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16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satisfaction range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95270" y="7120666"/>
            <a:ext cx="8005753" cy="151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Satisfaction scores span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3.04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(Alfonso Barraza) to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4.60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(Diana Rojo), a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1.56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-point gap on a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-point scale.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agents require immediate formal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3433177440"/>
              </p:ext>
            </p:extLst>
          </p:nvPr>
        </p:nvGraphicFramePr>
        <p:xfrm>
          <a:off x="-533400" y="2089254"/>
          <a:ext cx="14491659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7386300" imgH="11125200" progId="Excel.Sheet.12">
                  <p:embed/>
                </p:oleObj>
              </mc:Choice>
              <mc:Fallback>
                <p:oleObj name="Worksheet" r:id="rId2" imgW="17386300" imgH="11125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533400" y="2089254"/>
                        <a:ext cx="14491659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3556863766"/>
              </p:ext>
            </p:extLst>
          </p:nvPr>
        </p:nvGraphicFramePr>
        <p:xfrm>
          <a:off x="8915400" y="1568791"/>
          <a:ext cx="15639107" cy="7149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8757900" imgH="10274300" progId="Excel.Sheet.12">
                  <p:embed/>
                </p:oleObj>
              </mc:Choice>
              <mc:Fallback>
                <p:oleObj name="Worksheet" r:id="rId4" imgW="18757900" imgH="10274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15400" y="1568791"/>
                        <a:ext cx="15639107" cy="71494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211858" y="428573"/>
            <a:ext cx="11802666" cy="136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 b="1" u="none" strike="noStrike" spc="49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DATASET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66624" y="7161288"/>
            <a:ext cx="4495800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RELATIONSHIP — AGENT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5377" y="7997881"/>
            <a:ext cx="10512623" cy="190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Agent ID field creates a direct many-to-one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relationship between the Tickets sheet and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IT Agents sheet. Each of the </a:t>
            </a:r>
            <a:r>
              <a:rPr lang="en-US" sz="2125" u="none" strike="noStrike" spc="244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97,498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tickets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references one of 50 agents, enabling full agent-level performance analysis through VLOOKUP or JOIN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9020" y="2905093"/>
            <a:ext cx="13025120" cy="1319976"/>
          </a:xfrm>
          <a:custGeom>
            <a:avLst/>
            <a:gdLst/>
            <a:ahLst/>
            <a:cxnLst/>
            <a:rect l="l" t="t" r="r" b="b"/>
            <a:pathLst>
              <a:path w="13025120" h="1319976">
                <a:moveTo>
                  <a:pt x="0" y="0"/>
                </a:moveTo>
                <a:lnTo>
                  <a:pt x="13025120" y="0"/>
                </a:lnTo>
                <a:lnTo>
                  <a:pt x="13025120" y="1319975"/>
                </a:lnTo>
                <a:lnTo>
                  <a:pt x="0" y="1319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99104" y="428573"/>
            <a:ext cx="15500541" cy="136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 spc="495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KEY FINDINGS &amp;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9920" y="4579620"/>
            <a:ext cx="5157480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Total Tickets → 97,498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3814" y="5276009"/>
            <a:ext cx="12978169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Represents the complete workload handled across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5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years (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2016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.Baseline volume metric — every other KPI is measured against this number.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9920" y="6345980"/>
            <a:ext cx="7367280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Avg. Satisfaction Rate → 4.10/5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4218" y="7041305"/>
            <a:ext cx="12821127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is performing above the midpoint but below excellence (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5.0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.Masks a hidden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10.2%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tickets rated 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1/5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average alone is insufficient.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7114" y="8111276"/>
            <a:ext cx="6359486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Avg. Resolution Days → 4.55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0186" y="8806601"/>
            <a:ext cx="14672787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most critical operational KPI — flat for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consecutive years despite volume doubling.</a:t>
            </a:r>
          </a:p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9375" y="2134295"/>
            <a:ext cx="1042225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KPI’s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F444D5-68EA-5420-3B44-06BFFCC0F6B9}"/>
              </a:ext>
            </a:extLst>
          </p:cNvPr>
          <p:cNvSpPr txBox="1"/>
          <p:nvPr/>
        </p:nvSpPr>
        <p:spPr>
          <a:xfrm>
            <a:off x="1466105" y="9253415"/>
            <a:ext cx="9144000" cy="41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.Directly signals a tooling failure, not a people failure. </a:t>
            </a:r>
            <a:endParaRPr lang="en-US" sz="2125" spc="244" dirty="0">
              <a:solidFill>
                <a:srgbClr val="000000"/>
              </a:solidFill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5231" y="1686800"/>
            <a:ext cx="4293969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 Total Agents → 50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94482" y="2534070"/>
            <a:ext cx="12156638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agents handling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97,498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 = 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~1,950 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tickets per agent over </a:t>
            </a:r>
            <a:r>
              <a:rPr lang="en-US" sz="2125" u="none" strike="noStrike" spc="244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years.</a:t>
            </a:r>
          </a:p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.Team is absorbing load but not improving speed — capacity is stretched.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5231" y="3899070"/>
            <a:ext cx="6275169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 Unassigned Tickets → 29,410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0163" y="4746794"/>
            <a:ext cx="13579435" cy="36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5230" y="6112041"/>
            <a:ext cx="5055969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 Data Range → 5 Years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3723" y="6959765"/>
            <a:ext cx="17397077" cy="74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.</a:t>
            </a:r>
            <a:r>
              <a:rPr lang="en-US" sz="2400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nalysis covers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2016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sufficient to identify trends, seasonality, and performance patterns.</a:t>
            </a:r>
          </a:p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1AABA-2D54-A895-213C-9648F91C8973}"/>
              </a:ext>
            </a:extLst>
          </p:cNvPr>
          <p:cNvSpPr txBox="1"/>
          <p:nvPr/>
        </p:nvSpPr>
        <p:spPr>
          <a:xfrm>
            <a:off x="1020740" y="7362815"/>
            <a:ext cx="14478001" cy="42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0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.Long enough to validate that resolution time stagnation is structural, not temporary. </a:t>
            </a:r>
            <a:endParaRPr lang="en-US" sz="213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64418-EEE0-5BE0-2960-A80CABC94BA3}"/>
              </a:ext>
            </a:extLst>
          </p:cNvPr>
          <p:cNvSpPr txBox="1"/>
          <p:nvPr/>
        </p:nvSpPr>
        <p:spPr>
          <a:xfrm>
            <a:off x="-228600" y="4724331"/>
            <a:ext cx="14020800" cy="84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30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30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30%</a:t>
            </a:r>
            <a:r>
              <a:rPr lang="en-US" sz="2130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all tickets never received a priority — software triage failure.                  </a:t>
            </a:r>
          </a:p>
          <a:p>
            <a:pPr marL="0" lvl="0" indent="0" algn="ctr">
              <a:lnSpc>
                <a:spcPts val="2975"/>
              </a:lnSpc>
              <a:spcBef>
                <a:spcPct val="0"/>
              </a:spcBef>
            </a:pPr>
            <a:r>
              <a:rPr lang="en-US" sz="2130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.This number never improved across any single year — a permanent system. </a:t>
            </a:r>
            <a:endParaRPr lang="en-US" sz="21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38003" y="1485900"/>
            <a:ext cx="7121297" cy="6782999"/>
          </a:xfrm>
          <a:custGeom>
            <a:avLst/>
            <a:gdLst/>
            <a:ahLst/>
            <a:cxnLst/>
            <a:rect l="l" t="t" r="r" b="b"/>
            <a:pathLst>
              <a:path w="7121297" h="6782999">
                <a:moveTo>
                  <a:pt x="0" y="0"/>
                </a:moveTo>
                <a:lnTo>
                  <a:pt x="7121297" y="0"/>
                </a:lnTo>
                <a:lnTo>
                  <a:pt x="7121297" y="6782998"/>
                </a:lnTo>
                <a:lnTo>
                  <a:pt x="0" y="67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1"/>
            </a:stretch>
          </a:blipFill>
          <a:ln w="10477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924024" y="733425"/>
            <a:ext cx="5467376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Annual Ticket Volume (Column Chart)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0974" y="2334536"/>
            <a:ext cx="8135184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Ticket volume grew consistently every year from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2016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zero decline years.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795" y="3353407"/>
            <a:ext cx="6911221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2016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was the lowest year at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13,051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tickets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~35.76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tickets/day).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0974" y="4375754"/>
            <a:ext cx="8058269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steepest single-year jump occurred in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+35.4%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), reaching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29,088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047" y="5394625"/>
            <a:ext cx="7476649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Overall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-year growth =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123%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volume more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than doubled across the period.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0915" y="6420447"/>
            <a:ext cx="9082445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.The sharp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spike is likely attributable to COVID-19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remote-work surge increasing IT dependency.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39760" y="1028700"/>
            <a:ext cx="7780950" cy="7706348"/>
          </a:xfrm>
          <a:custGeom>
            <a:avLst/>
            <a:gdLst/>
            <a:ahLst/>
            <a:cxnLst/>
            <a:rect l="l" t="t" r="r" b="b"/>
            <a:pathLst>
              <a:path w="7780950" h="7706348">
                <a:moveTo>
                  <a:pt x="0" y="0"/>
                </a:moveTo>
                <a:lnTo>
                  <a:pt x="7780950" y="0"/>
                </a:lnTo>
                <a:lnTo>
                  <a:pt x="7780950" y="7706348"/>
                </a:lnTo>
                <a:lnTo>
                  <a:pt x="0" y="7706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54" t="-5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6484" y="1022961"/>
            <a:ext cx="9011304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Request Category Distribution</a:t>
            </a: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(Donut Chart)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1942" y="2560474"/>
            <a:ext cx="9277708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.System tickets dominate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40%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the largest workload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category with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39,002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1823" y="3622363"/>
            <a:ext cx="9192696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Login Access is second at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30%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29,193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tickets) — mostly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fast password resets &amp; access grants.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310" y="4682809"/>
            <a:ext cx="9053393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.Software accounts for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19,570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tickets) — licensing,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compatibility, and vendor issues.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1346" y="5743256"/>
            <a:ext cx="8753654" cy="74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.Hardware is the smallest at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10%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9,733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tickets) but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carries the heaviest resolution burden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7.63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days.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9369" y="6803702"/>
            <a:ext cx="9380281" cy="1134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.Despite being the least frequent, Hardware consumes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disproportionate agent time —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24.5×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slower than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Login Access.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1757950"/>
            <a:ext cx="8591131" cy="6469647"/>
          </a:xfrm>
          <a:custGeom>
            <a:avLst/>
            <a:gdLst/>
            <a:ahLst/>
            <a:cxnLst/>
            <a:rect l="l" t="t" r="r" b="b"/>
            <a:pathLst>
              <a:path w="8591131" h="6469647">
                <a:moveTo>
                  <a:pt x="0" y="0"/>
                </a:moveTo>
                <a:lnTo>
                  <a:pt x="8591131" y="0"/>
                </a:lnTo>
                <a:lnTo>
                  <a:pt x="8591131" y="6469646"/>
                </a:lnTo>
                <a:lnTo>
                  <a:pt x="0" y="6469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95" b="-7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053638" y="747058"/>
            <a:ext cx="5626066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Ticket Severity Level (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Column</a:t>
            </a: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Chart)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3920" y="2285334"/>
            <a:ext cx="15157079" cy="746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Normal" severity dominates overwhelmingly at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90.93% —a staggering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88,656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out of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97,498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4159" y="3511750"/>
            <a:ext cx="7215545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Major" is a distant second at just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4.96%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(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4,836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3921" y="4581721"/>
            <a:ext cx="8073271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Minor" accounts for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2.32%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2,258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tickets) and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Urgent" only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1.43%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1,392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4040" y="5651692"/>
            <a:ext cx="8241387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0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Unclassified" makes up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0.37%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356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tickets) —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a data quality gap requiring governance fix.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4278" y="6721664"/>
            <a:ext cx="8489632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.The Normal severity dominance creates a massive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queue bottleneck — these tickets average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4.66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days to resolve vs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2.00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for Urgent.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5089" y="8034042"/>
            <a:ext cx="8428911" cy="43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5"/>
              </a:lnSpc>
              <a:spcBef>
                <a:spcPct val="0"/>
              </a:spcBef>
            </a:pPr>
            <a:r>
              <a:rPr lang="en-US" sz="2425" b="1" spc="278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Note:- misspelled as 'Mayor' in source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057400" y="855634"/>
            <a:ext cx="6361394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rage </a:t>
            </a: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Resolution Days by Request Category (Bar Chart)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1533" y="2568891"/>
            <a:ext cx="8772883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.Hardware is the slowest category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7.63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—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68%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above the overall team average of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4.55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1533" y="3549694"/>
            <a:ext cx="8610362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.System tickets average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6.62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— still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45%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above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average due to infrastructure complexity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admin escalations.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9371" y="4905416"/>
            <a:ext cx="9146808" cy="74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.Software resolves in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5.24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—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15%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above average,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driven by vendor dependencies and licensing delays.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9371" y="5876417"/>
            <a:ext cx="9033153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.Login Access is the fastest at just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0.31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—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nearly instant, powered by automation and simple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password resets.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1177" y="7245384"/>
            <a:ext cx="8580954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.The gap between fastest and slowest is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7.32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—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Hardware takes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24.5×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longer than Login Access.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18B941-E3FA-FBD0-78C3-33E0EB21B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714500"/>
            <a:ext cx="7661358" cy="66131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35559" y="1499919"/>
            <a:ext cx="7311779" cy="6638065"/>
          </a:xfrm>
          <a:custGeom>
            <a:avLst/>
            <a:gdLst/>
            <a:ahLst/>
            <a:cxnLst/>
            <a:rect l="l" t="t" r="r" b="b"/>
            <a:pathLst>
              <a:path w="7311779" h="6638065">
                <a:moveTo>
                  <a:pt x="0" y="0"/>
                </a:moveTo>
                <a:lnTo>
                  <a:pt x="7311779" y="0"/>
                </a:lnTo>
                <a:lnTo>
                  <a:pt x="7311779" y="6638064"/>
                </a:lnTo>
                <a:lnTo>
                  <a:pt x="0" y="6638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53262" y="976044"/>
            <a:ext cx="6476338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Priority Distribution (Pie Chart)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8142" y="2828465"/>
            <a:ext cx="9290566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High" priority leads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36.5%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the largest properly-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assigned priority segment.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8023" y="3772670"/>
            <a:ext cx="9403437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Unassigned" is second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30.2% — 29,410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with no priority routing — the biggest operational risk.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8023" y="4710730"/>
            <a:ext cx="8054459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Low" accounts for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17.1%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resolves slowest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among assigned priorities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6.01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days.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8023" y="5738090"/>
            <a:ext cx="8014216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Mid" is the smallest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16.3%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15,892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tickets),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averaging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4.00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to resolve.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8023" y="6765450"/>
            <a:ext cx="8205907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.High-priority tickets resolve fastest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3.49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days,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confirming escalation protocols work —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but only when priority is assigned.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4857" y="8121172"/>
            <a:ext cx="8250436" cy="374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  <a:spcBef>
                <a:spcPct val="0"/>
              </a:spcBef>
            </a:pPr>
            <a:r>
              <a:rPr lang="en-US" sz="2125" b="1" spc="2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NOTE:-  misspelled in source data(0-unasigned).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54157" y="1532949"/>
            <a:ext cx="8581443" cy="7455621"/>
          </a:xfrm>
          <a:custGeom>
            <a:avLst/>
            <a:gdLst/>
            <a:ahLst/>
            <a:cxnLst/>
            <a:rect l="l" t="t" r="r" b="b"/>
            <a:pathLst>
              <a:path w="8741217" h="7455621">
                <a:moveTo>
                  <a:pt x="0" y="0"/>
                </a:moveTo>
                <a:lnTo>
                  <a:pt x="8741217" y="0"/>
                </a:lnTo>
                <a:lnTo>
                  <a:pt x="8741217" y="7455621"/>
                </a:lnTo>
                <a:lnTo>
                  <a:pt x="0" y="7455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27" r="-63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67100" y="1271012"/>
            <a:ext cx="7395899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Type Breakdown (Donut Chart)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6778" y="2803823"/>
            <a:ext cx="8329612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.IT Request dominates at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75.1%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73,220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 are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proactive service requests, not system failures.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0351" y="3887835"/>
            <a:ext cx="8912304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.IT Error accounts for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24.9%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24,278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represent reactive, unplanned failure responses.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6897" y="4876198"/>
            <a:ext cx="8915758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.System category generates the most IT Errors —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9,746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errors, making it the primary infrastructure risk zone.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6897" y="6046828"/>
            <a:ext cx="9217462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.The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3:1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ratio of Requests to Errors indicates a generally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stable IT environment with low failure rates.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778" y="7097346"/>
            <a:ext cx="9938267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.Despite the disparity in volume, satisfaction scores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are nearly identical —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4.10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for Requests vs </a:t>
            </a:r>
            <a:r>
              <a:rPr lang="en-US" sz="2125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4.10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Errors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users rate both equally.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97E9AC-24A4-10D9-A7E3-90C33B87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1866900"/>
            <a:ext cx="8420956" cy="6324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7E12C5-2076-9C12-8ACA-D169E9F457F4}"/>
              </a:ext>
            </a:extLst>
          </p:cNvPr>
          <p:cNvSpPr txBox="1"/>
          <p:nvPr/>
        </p:nvSpPr>
        <p:spPr>
          <a:xfrm>
            <a:off x="1676400" y="1291742"/>
            <a:ext cx="6781800" cy="1150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Average Satisfaction by Time (Line Chart)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928049-55FC-87A3-89FB-230BE83400CF}"/>
              </a:ext>
            </a:extLst>
          </p:cNvPr>
          <p:cNvSpPr txBox="1"/>
          <p:nvPr/>
        </p:nvSpPr>
        <p:spPr>
          <a:xfrm>
            <a:off x="457200" y="3132704"/>
            <a:ext cx="12268200" cy="842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 . Avg.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satisfaction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increased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from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3.98</a:t>
            </a:r>
            <a:r>
              <a:rPr lang="en-US" sz="213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2016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 to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4.16</a:t>
            </a:r>
            <a:r>
              <a:rPr lang="en-US" sz="213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3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2020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),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showing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an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overall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growth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0.18</a:t>
            </a:r>
            <a:r>
              <a:rPr lang="en-US" sz="213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points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ED36F-8118-732D-21C3-C71969F8CBDF}"/>
              </a:ext>
            </a:extLst>
          </p:cNvPr>
          <p:cNvSpPr txBox="1"/>
          <p:nvPr/>
        </p:nvSpPr>
        <p:spPr>
          <a:xfrm>
            <a:off x="609600" y="4089914"/>
            <a:ext cx="10134600" cy="842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The biggest improvement</a:t>
            </a:r>
            <a:r>
              <a:rPr lang="en-US" sz="2130" dirty="0">
                <a:latin typeface="Poppins" panose="00000500000000000000" pitchFamily="2" charset="0"/>
                <a:cs typeface="Poppins" panose="00000500000000000000" pitchFamily="2" charset="0"/>
              </a:rPr>
              <a:t> was in </a:t>
            </a:r>
            <a:r>
              <a:rPr lang="en-US" sz="213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where</a:t>
            </a:r>
          </a:p>
          <a:p>
            <a:pPr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satisfaction rose from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3.98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to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4.07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(+0.09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4E3BE9-AB65-FFC6-6CEC-37491A49C6B2}"/>
              </a:ext>
            </a:extLst>
          </p:cNvPr>
          <p:cNvSpPr txBox="1"/>
          <p:nvPr/>
        </p:nvSpPr>
        <p:spPr>
          <a:xfrm>
            <a:off x="609600" y="5154560"/>
            <a:ext cx="9276734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Satisfaction scores improved consistently:</a:t>
            </a:r>
          </a:p>
          <a:p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  4.07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2017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 →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4.09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2018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 →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4.12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2019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 →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4.16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62CE6F-2766-AFFF-AECA-434E429429BA}"/>
              </a:ext>
            </a:extLst>
          </p:cNvPr>
          <p:cNvSpPr txBox="1"/>
          <p:nvPr/>
        </p:nvSpPr>
        <p:spPr>
          <a:xfrm>
            <a:off x="609600" y="6256651"/>
            <a:ext cx="10972800" cy="7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recorded the highest satisfaction score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4.16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),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indicating better customer service performance.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B18C92-6722-3904-3E47-33D63733404D}"/>
              </a:ext>
            </a:extLst>
          </p:cNvPr>
          <p:cNvSpPr txBox="1"/>
          <p:nvPr/>
        </p:nvSpPr>
        <p:spPr>
          <a:xfrm>
            <a:off x="609600" y="7233249"/>
            <a:ext cx="11430000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The chart reflects a stable positive trend with yearly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satisfaction growth between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0.02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and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0.04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points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after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2017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5884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C81C28-2514-39CC-CD46-E9C15F0F5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9" y="2171700"/>
            <a:ext cx="8687577" cy="518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6EFEE7-5879-1056-4753-999885DF4CB5}"/>
              </a:ext>
            </a:extLst>
          </p:cNvPr>
          <p:cNvSpPr txBox="1"/>
          <p:nvPr/>
        </p:nvSpPr>
        <p:spPr>
          <a:xfrm>
            <a:off x="1735394" y="1257300"/>
            <a:ext cx="6705600" cy="1150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Satisfaction Rate by Age Group (Bar Chart)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6FE376-4B08-2CCB-E890-D7661E0940DC}"/>
              </a:ext>
            </a:extLst>
          </p:cNvPr>
          <p:cNvSpPr txBox="1"/>
          <p:nvPr/>
        </p:nvSpPr>
        <p:spPr>
          <a:xfrm>
            <a:off x="762000" y="2714962"/>
            <a:ext cx="165354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The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29–33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age group recorded the highest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satisfaction rate at approximately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4.21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indicating 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stronger service satisfaction among younger 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professionals.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5860A7-886D-EC21-311A-B42325733426}"/>
              </a:ext>
            </a:extLst>
          </p:cNvPr>
          <p:cNvSpPr txBox="1"/>
          <p:nvPr/>
        </p:nvSpPr>
        <p:spPr>
          <a:xfrm>
            <a:off x="716524" y="4275195"/>
            <a:ext cx="17114275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Customers aged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49–54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also showed high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satisfaction with an average score of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reflecting positive experience among senior users.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4F61FD-382D-98E4-2051-D09B2D6E6738}"/>
              </a:ext>
            </a:extLst>
          </p:cNvPr>
          <p:cNvSpPr txBox="1"/>
          <p:nvPr/>
        </p:nvSpPr>
        <p:spPr>
          <a:xfrm>
            <a:off x="723898" y="5545904"/>
            <a:ext cx="14058901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The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39–43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age group maintained a good satisfaction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level of around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4.12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staying above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the overall average trend.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8D3AFB-FD4D-85C8-698B-1DE883493ABC}"/>
              </a:ext>
            </a:extLst>
          </p:cNvPr>
          <p:cNvSpPr txBox="1"/>
          <p:nvPr/>
        </p:nvSpPr>
        <p:spPr>
          <a:xfrm>
            <a:off x="784122" y="6779125"/>
            <a:ext cx="13465278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The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34–38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age group had the lowest satisfaction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score at nearly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3.96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highlighting a potential area for service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improvement.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C853C7-7F48-E42B-196F-1EF8EDA95BB6}"/>
              </a:ext>
            </a:extLst>
          </p:cNvPr>
          <p:cNvSpPr txBox="1"/>
          <p:nvPr/>
        </p:nvSpPr>
        <p:spPr>
          <a:xfrm>
            <a:off x="743564" y="7956329"/>
            <a:ext cx="12058036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Overall, all age groups maintained satisfaction 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scores close to or above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showing consistently positive 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customer feedback across demographics. </a:t>
            </a:r>
          </a:p>
        </p:txBody>
      </p:sp>
    </p:spTree>
    <p:extLst>
      <p:ext uri="{BB962C8B-B14F-4D97-AF65-F5344CB8AC3E}">
        <p14:creationId xmlns:p14="http://schemas.microsoft.com/office/powerpoint/2010/main" val="2459235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710714-E305-8577-19FE-78D5BB56AB83}"/>
              </a:ext>
            </a:extLst>
          </p:cNvPr>
          <p:cNvSpPr txBox="1"/>
          <p:nvPr/>
        </p:nvSpPr>
        <p:spPr>
          <a:xfrm>
            <a:off x="609600" y="1376046"/>
            <a:ext cx="9144000" cy="1150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Ticket Distribution by Satisfaction Rate (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Column Chart</a:t>
            </a: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4DDEC5-991E-6EE9-BC86-9D60502B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2526361"/>
            <a:ext cx="8534400" cy="65561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53C633-9E6E-BFC0-3DDB-F21DFC8A7ABD}"/>
              </a:ext>
            </a:extLst>
          </p:cNvPr>
          <p:cNvSpPr txBox="1"/>
          <p:nvPr/>
        </p:nvSpPr>
        <p:spPr>
          <a:xfrm>
            <a:off x="762000" y="3303497"/>
            <a:ext cx="115824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Rating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5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had the highest number of tickets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50,770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showing most users were highly satisfied.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374AC4-63E8-C613-295C-F0DB264B03EF}"/>
              </a:ext>
            </a:extLst>
          </p:cNvPr>
          <p:cNvSpPr txBox="1"/>
          <p:nvPr/>
        </p:nvSpPr>
        <p:spPr>
          <a:xfrm>
            <a:off x="762000" y="4296335"/>
            <a:ext cx="103632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Rating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recorded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27,562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tickets, indicating many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users were satisfied with the service.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69DE9-8771-8396-4E98-4345931DB529}"/>
              </a:ext>
            </a:extLst>
          </p:cNvPr>
          <p:cNvSpPr txBox="1"/>
          <p:nvPr/>
        </p:nvSpPr>
        <p:spPr>
          <a:xfrm>
            <a:off x="762000" y="5244308"/>
            <a:ext cx="102870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Rating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had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9,907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tickets, reflecting a significant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number of dissatisfied users.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E48721-1CFE-B495-C32B-6FA9D10B4386}"/>
              </a:ext>
            </a:extLst>
          </p:cNvPr>
          <p:cNvSpPr txBox="1"/>
          <p:nvPr/>
        </p:nvSpPr>
        <p:spPr>
          <a:xfrm>
            <a:off x="762000" y="6221169"/>
            <a:ext cx="119634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Rating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had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7,282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tickets, representing average user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satisfaction.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2C8BA-E3F5-90D1-2177-9DC940A9327F}"/>
              </a:ext>
            </a:extLst>
          </p:cNvPr>
          <p:cNvSpPr txBox="1"/>
          <p:nvPr/>
        </p:nvSpPr>
        <p:spPr>
          <a:xfrm>
            <a:off x="762000" y="7140981"/>
            <a:ext cx="105156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Rating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had the fewest tickets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1,977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), making it the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least selected rating.</a:t>
            </a:r>
          </a:p>
        </p:txBody>
      </p:sp>
    </p:spTree>
    <p:extLst>
      <p:ext uri="{BB962C8B-B14F-4D97-AF65-F5344CB8AC3E}">
        <p14:creationId xmlns:p14="http://schemas.microsoft.com/office/powerpoint/2010/main" val="4233273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332800-AF56-FC68-0792-A2517737B30A}"/>
              </a:ext>
            </a:extLst>
          </p:cNvPr>
          <p:cNvSpPr txBox="1"/>
          <p:nvPr/>
        </p:nvSpPr>
        <p:spPr>
          <a:xfrm>
            <a:off x="354335" y="1249985"/>
            <a:ext cx="9144000" cy="1150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Ticket Distribution by Resolution Time (</a:t>
            </a: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Column Chart</a:t>
            </a: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A8CC0-4D6D-1177-3C5D-C39FD1A8A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199" y="2400300"/>
            <a:ext cx="7951465" cy="64607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772BE7-70C6-CBAF-D73F-75FBF17AF39C}"/>
              </a:ext>
            </a:extLst>
          </p:cNvPr>
          <p:cNvSpPr txBox="1"/>
          <p:nvPr/>
        </p:nvSpPr>
        <p:spPr>
          <a:xfrm>
            <a:off x="535550" y="2933700"/>
            <a:ext cx="13485250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Resolution time of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 0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days had the highest number of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tickets with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25,071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tickets, showing many issues were 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resolved immediately.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5F4E8-C89C-BF80-9F21-1C9520FCFEE9}"/>
              </a:ext>
            </a:extLst>
          </p:cNvPr>
          <p:cNvSpPr txBox="1"/>
          <p:nvPr/>
        </p:nvSpPr>
        <p:spPr>
          <a:xfrm>
            <a:off x="510970" y="4167292"/>
            <a:ext cx="1107143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Tickets resolved in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 accounted for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9,277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tickets,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making it the second most common resolution time.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27C808-015F-CFA1-EDF6-F0432B31791E}"/>
              </a:ext>
            </a:extLst>
          </p:cNvPr>
          <p:cNvSpPr txBox="1"/>
          <p:nvPr/>
        </p:nvSpPr>
        <p:spPr>
          <a:xfrm>
            <a:off x="510970" y="5129981"/>
            <a:ext cx="11452430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Resolution times of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5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 and 6 days recorded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8,789</a:t>
            </a:r>
            <a:endParaRPr lang="en-US" sz="2125" spc="244" dirty="0">
              <a:solidFill>
                <a:srgbClr val="000000"/>
              </a:solidFill>
              <a:latin typeface="Poppins"/>
              <a:cs typeface="Poppins"/>
            </a:endParaRP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and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7,802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 respectively, indicating many cases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required moderate handling time.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13D91D-8762-0CD4-3FA9-4C590A1CBD80}"/>
              </a:ext>
            </a:extLst>
          </p:cNvPr>
          <p:cNvSpPr txBox="1"/>
          <p:nvPr/>
        </p:nvSpPr>
        <p:spPr>
          <a:xfrm>
            <a:off x="535550" y="6419683"/>
            <a:ext cx="11351650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Tickets resolved in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7–10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 gradually decreased,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with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6,582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7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days),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4,850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days),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3,739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9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days), and </a:t>
            </a:r>
          </a:p>
          <a:p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  3,899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(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days) tickets.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B09544-6B34-5C2B-273C-B0E44D05A2A6}"/>
              </a:ext>
            </a:extLst>
          </p:cNvPr>
          <p:cNvSpPr txBox="1"/>
          <p:nvPr/>
        </p:nvSpPr>
        <p:spPr>
          <a:xfrm>
            <a:off x="510970" y="7709385"/>
            <a:ext cx="12290630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Very long resolution times were rare, with only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124 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tickets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taking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18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days,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130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 taking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19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days, and just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tickets </a:t>
            </a:r>
          </a:p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 each taking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and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21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days. </a:t>
            </a:r>
          </a:p>
        </p:txBody>
      </p:sp>
    </p:spTree>
    <p:extLst>
      <p:ext uri="{BB962C8B-B14F-4D97-AF65-F5344CB8AC3E}">
        <p14:creationId xmlns:p14="http://schemas.microsoft.com/office/powerpoint/2010/main" val="2327138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C5C615-C27A-1D47-93BC-CBE47DEE2B2E}"/>
              </a:ext>
            </a:extLst>
          </p:cNvPr>
          <p:cNvSpPr txBox="1"/>
          <p:nvPr/>
        </p:nvSpPr>
        <p:spPr>
          <a:xfrm>
            <a:off x="186812" y="114300"/>
            <a:ext cx="1855838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spc="495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DASHBOARD &amp; VISUALIZATIONS </a:t>
            </a:r>
            <a:endParaRPr lang="en-US" sz="8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460758-0618-CB9C-69F3-7EA07F26B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812" y="2536723"/>
            <a:ext cx="17914376" cy="773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24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83868" y="2641890"/>
            <a:ext cx="9320263" cy="729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6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              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┌──────────────────────────────┐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1. DATA PROFILING            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└──────────────┬───────────────┘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              ↓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┌──────────────────────────────┐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2. DESCRIPTIVE STATISTICS   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└──────────────┬───────────────┘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              ↓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┌──────────────────────────────┐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3. SEGMENTATION &amp; RANKING      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└──────────────┬───────────────┘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              ↓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┌──────────────────────────────┐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4. INFERENTIAL ANALYSIS         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└──────────────┬───────────────┘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              ↓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┌──────────────────────────────┐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5. RECOMMENDATIONS                 </a:t>
            </a:r>
          </a:p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sz="2004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└──────────────────────────────┘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239360" y="3534082"/>
            <a:ext cx="7864601" cy="663500"/>
            <a:chOff x="0" y="0"/>
            <a:chExt cx="2071335" cy="1747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1335" cy="174749"/>
            </a:xfrm>
            <a:custGeom>
              <a:avLst/>
              <a:gdLst/>
              <a:ahLst/>
              <a:cxnLst/>
              <a:rect l="l" t="t" r="r" b="b"/>
              <a:pathLst>
                <a:path w="2071335" h="174749">
                  <a:moveTo>
                    <a:pt x="0" y="0"/>
                  </a:moveTo>
                  <a:lnTo>
                    <a:pt x="2071335" y="0"/>
                  </a:lnTo>
                  <a:lnTo>
                    <a:pt x="2071335" y="174749"/>
                  </a:lnTo>
                  <a:lnTo>
                    <a:pt x="0" y="174749"/>
                  </a:lnTo>
                  <a:close/>
                </a:path>
              </a:pathLst>
            </a:custGeom>
            <a:solidFill>
              <a:srgbClr val="FFE7C2">
                <a:alpha val="3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1335" cy="212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236283"/>
            <a:ext cx="15500541" cy="427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39"/>
              </a:lnSpc>
            </a:pPr>
            <a:r>
              <a:rPr lang="en-US" sz="8099" spc="50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ANALYTICAL APPROACH &amp; METHODOLOGY:-</a:t>
            </a:r>
          </a:p>
          <a:p>
            <a:pPr marL="0" lvl="0" indent="0" algn="ctr">
              <a:lnSpc>
                <a:spcPts val="11339"/>
              </a:lnSpc>
              <a:spcBef>
                <a:spcPct val="0"/>
              </a:spcBef>
            </a:pPr>
            <a:endParaRPr lang="en-US" sz="8099" spc="502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211699" y="4922095"/>
            <a:ext cx="7864601" cy="663500"/>
            <a:chOff x="0" y="0"/>
            <a:chExt cx="2071335" cy="1747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1335" cy="174749"/>
            </a:xfrm>
            <a:custGeom>
              <a:avLst/>
              <a:gdLst/>
              <a:ahLst/>
              <a:cxnLst/>
              <a:rect l="l" t="t" r="r" b="b"/>
              <a:pathLst>
                <a:path w="2071335" h="174749">
                  <a:moveTo>
                    <a:pt x="0" y="0"/>
                  </a:moveTo>
                  <a:lnTo>
                    <a:pt x="2071335" y="0"/>
                  </a:lnTo>
                  <a:lnTo>
                    <a:pt x="2071335" y="174749"/>
                  </a:lnTo>
                  <a:lnTo>
                    <a:pt x="0" y="174749"/>
                  </a:lnTo>
                  <a:close/>
                </a:path>
              </a:pathLst>
            </a:custGeom>
            <a:solidFill>
              <a:srgbClr val="FFE7C2">
                <a:alpha val="3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071335" cy="212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39360" y="6309495"/>
            <a:ext cx="7864601" cy="663500"/>
            <a:chOff x="0" y="0"/>
            <a:chExt cx="2071335" cy="1747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1335" cy="174749"/>
            </a:xfrm>
            <a:custGeom>
              <a:avLst/>
              <a:gdLst/>
              <a:ahLst/>
              <a:cxnLst/>
              <a:rect l="l" t="t" r="r" b="b"/>
              <a:pathLst>
                <a:path w="2071335" h="174749">
                  <a:moveTo>
                    <a:pt x="0" y="0"/>
                  </a:moveTo>
                  <a:lnTo>
                    <a:pt x="2071335" y="0"/>
                  </a:lnTo>
                  <a:lnTo>
                    <a:pt x="2071335" y="174749"/>
                  </a:lnTo>
                  <a:lnTo>
                    <a:pt x="0" y="174749"/>
                  </a:lnTo>
                  <a:close/>
                </a:path>
              </a:pathLst>
            </a:custGeom>
            <a:solidFill>
              <a:srgbClr val="FFE7C2">
                <a:alpha val="3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71335" cy="212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39360" y="7696894"/>
            <a:ext cx="7864601" cy="663500"/>
            <a:chOff x="0" y="0"/>
            <a:chExt cx="2071335" cy="1747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1335" cy="174749"/>
            </a:xfrm>
            <a:custGeom>
              <a:avLst/>
              <a:gdLst/>
              <a:ahLst/>
              <a:cxnLst/>
              <a:rect l="l" t="t" r="r" b="b"/>
              <a:pathLst>
                <a:path w="2071335" h="174749">
                  <a:moveTo>
                    <a:pt x="0" y="0"/>
                  </a:moveTo>
                  <a:lnTo>
                    <a:pt x="2071335" y="0"/>
                  </a:lnTo>
                  <a:lnTo>
                    <a:pt x="2071335" y="174749"/>
                  </a:lnTo>
                  <a:lnTo>
                    <a:pt x="0" y="174749"/>
                  </a:lnTo>
                  <a:close/>
                </a:path>
              </a:pathLst>
            </a:custGeom>
            <a:solidFill>
              <a:srgbClr val="FFE7C2">
                <a:alpha val="3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71335" cy="212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39360" y="9084294"/>
            <a:ext cx="7864601" cy="663500"/>
            <a:chOff x="0" y="0"/>
            <a:chExt cx="2071335" cy="1747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1335" cy="174749"/>
            </a:xfrm>
            <a:custGeom>
              <a:avLst/>
              <a:gdLst/>
              <a:ahLst/>
              <a:cxnLst/>
              <a:rect l="l" t="t" r="r" b="b"/>
              <a:pathLst>
                <a:path w="2071335" h="174749">
                  <a:moveTo>
                    <a:pt x="0" y="0"/>
                  </a:moveTo>
                  <a:lnTo>
                    <a:pt x="2071335" y="0"/>
                  </a:lnTo>
                  <a:lnTo>
                    <a:pt x="2071335" y="174749"/>
                  </a:lnTo>
                  <a:lnTo>
                    <a:pt x="0" y="174749"/>
                  </a:lnTo>
                  <a:close/>
                </a:path>
              </a:pathLst>
            </a:custGeom>
            <a:solidFill>
              <a:srgbClr val="FFE7C2">
                <a:alpha val="3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071335" cy="212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5636" y="845428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7" y="0"/>
                </a:lnTo>
                <a:lnTo>
                  <a:pt x="820017" y="820018"/>
                </a:lnTo>
                <a:lnTo>
                  <a:pt x="0" y="820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65636" y="4043324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7" y="0"/>
                </a:lnTo>
                <a:lnTo>
                  <a:pt x="820017" y="820017"/>
                </a:lnTo>
                <a:lnTo>
                  <a:pt x="0" y="82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65636" y="7204706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7" y="0"/>
                </a:lnTo>
                <a:lnTo>
                  <a:pt x="820017" y="820017"/>
                </a:lnTo>
                <a:lnTo>
                  <a:pt x="0" y="820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4820769" y="3245463"/>
            <a:ext cx="2647307" cy="3796073"/>
            <a:chOff x="0" y="0"/>
            <a:chExt cx="468453" cy="6717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8453" cy="671733"/>
            </a:xfrm>
            <a:custGeom>
              <a:avLst/>
              <a:gdLst/>
              <a:ahLst/>
              <a:cxnLst/>
              <a:rect l="l" t="t" r="r" b="b"/>
              <a:pathLst>
                <a:path w="468453" h="671733">
                  <a:moveTo>
                    <a:pt x="468453" y="51115"/>
                  </a:moveTo>
                  <a:lnTo>
                    <a:pt x="468453" y="671733"/>
                  </a:lnTo>
                  <a:lnTo>
                    <a:pt x="234227" y="572673"/>
                  </a:lnTo>
                  <a:lnTo>
                    <a:pt x="0" y="671733"/>
                  </a:lnTo>
                  <a:lnTo>
                    <a:pt x="0" y="51115"/>
                  </a:lnTo>
                  <a:cubicBezTo>
                    <a:pt x="0" y="22860"/>
                    <a:pt x="28107" y="0"/>
                    <a:pt x="60899" y="0"/>
                  </a:cubicBezTo>
                  <a:lnTo>
                    <a:pt x="407555" y="0"/>
                  </a:lnTo>
                  <a:cubicBezTo>
                    <a:pt x="440346" y="0"/>
                    <a:pt x="468453" y="21590"/>
                    <a:pt x="468453" y="52782"/>
                  </a:cubicBezTo>
                  <a:close/>
                </a:path>
              </a:pathLst>
            </a:custGeom>
            <a:solidFill>
              <a:srgbClr val="EDCB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68453" cy="610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3847" y="1010962"/>
            <a:ext cx="18359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0326" y="1007275"/>
            <a:ext cx="3040274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Profiling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62784" y="2111178"/>
            <a:ext cx="13934415" cy="74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.NULL checks, cardinality analysis, referential integrity validation, spelling</a:t>
            </a: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audit.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.Key find: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29,410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misspelled unassigned priority entries.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3068" y="4167583"/>
            <a:ext cx="33480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60326" y="4158058"/>
            <a:ext cx="4183274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Descriptive Statistics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0326" y="5224857"/>
            <a:ext cx="12192715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Computed distributions of resolution time, satisfaction, tickets per agent,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volume over time. Established baseline platform landscape.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3068" y="7292451"/>
            <a:ext cx="295632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0326" y="7361629"/>
            <a:ext cx="5173874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Segmentation &amp; Ranking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0326" y="8428428"/>
            <a:ext cx="11210687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Agents segmented by satisfaction and resolution. Ticket categories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ranked by volume and efficiency. Top/bottom performers identified.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4820769" y="3470022"/>
            <a:ext cx="2647307" cy="2786639"/>
          </a:xfrm>
          <a:custGeom>
            <a:avLst/>
            <a:gdLst/>
            <a:ahLst/>
            <a:cxnLst/>
            <a:rect l="l" t="t" r="r" b="b"/>
            <a:pathLst>
              <a:path w="2647307" h="2786639">
                <a:moveTo>
                  <a:pt x="0" y="0"/>
                </a:moveTo>
                <a:lnTo>
                  <a:pt x="2647306" y="0"/>
                </a:lnTo>
                <a:lnTo>
                  <a:pt x="2647306" y="2786638"/>
                </a:lnTo>
                <a:lnTo>
                  <a:pt x="0" y="2786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8691" y="1585542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8" y="0"/>
                </a:lnTo>
                <a:lnTo>
                  <a:pt x="820018" y="820018"/>
                </a:lnTo>
                <a:lnTo>
                  <a:pt x="0" y="820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80646" y="1709801"/>
            <a:ext cx="296108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94238" y="1700276"/>
            <a:ext cx="4049362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Inferential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94238" y="2719736"/>
            <a:ext cx="12197478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.Cross-table analysis using pivot tables, VLOOKUP, and MID/FIND formulas.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.Answered all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objective +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subjective business questions.</a:t>
            </a:r>
          </a:p>
        </p:txBody>
      </p:sp>
      <p:sp>
        <p:nvSpPr>
          <p:cNvPr id="6" name="Freeform 6"/>
          <p:cNvSpPr/>
          <p:nvPr/>
        </p:nvSpPr>
        <p:spPr>
          <a:xfrm>
            <a:off x="618691" y="4733491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8" y="0"/>
                </a:lnTo>
                <a:lnTo>
                  <a:pt x="820018" y="820018"/>
                </a:lnTo>
                <a:lnTo>
                  <a:pt x="0" y="820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86242" y="4821237"/>
            <a:ext cx="284917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94238" y="4884738"/>
            <a:ext cx="5725762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Strategic Recommendations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94238" y="5903913"/>
            <a:ext cx="10984588" cy="7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Findings translated into concrete investment, training, software,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process recommendations grounded in quantitative evidence.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820769" y="3245463"/>
            <a:ext cx="2647307" cy="3796073"/>
            <a:chOff x="0" y="0"/>
            <a:chExt cx="468453" cy="6717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8453" cy="671733"/>
            </a:xfrm>
            <a:custGeom>
              <a:avLst/>
              <a:gdLst/>
              <a:ahLst/>
              <a:cxnLst/>
              <a:rect l="l" t="t" r="r" b="b"/>
              <a:pathLst>
                <a:path w="468453" h="671733">
                  <a:moveTo>
                    <a:pt x="468453" y="51115"/>
                  </a:moveTo>
                  <a:lnTo>
                    <a:pt x="468453" y="671733"/>
                  </a:lnTo>
                  <a:lnTo>
                    <a:pt x="234227" y="572673"/>
                  </a:lnTo>
                  <a:lnTo>
                    <a:pt x="0" y="671733"/>
                  </a:lnTo>
                  <a:lnTo>
                    <a:pt x="0" y="51115"/>
                  </a:lnTo>
                  <a:cubicBezTo>
                    <a:pt x="0" y="22860"/>
                    <a:pt x="28107" y="0"/>
                    <a:pt x="60899" y="0"/>
                  </a:cubicBezTo>
                  <a:lnTo>
                    <a:pt x="407555" y="0"/>
                  </a:lnTo>
                  <a:cubicBezTo>
                    <a:pt x="440346" y="0"/>
                    <a:pt x="468453" y="21590"/>
                    <a:pt x="468453" y="52782"/>
                  </a:cubicBezTo>
                  <a:close/>
                </a:path>
              </a:pathLst>
            </a:custGeom>
            <a:solidFill>
              <a:srgbClr val="EDCB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68453" cy="610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820769" y="3470022"/>
            <a:ext cx="2647307" cy="2786639"/>
          </a:xfrm>
          <a:custGeom>
            <a:avLst/>
            <a:gdLst/>
            <a:ahLst/>
            <a:cxnLst/>
            <a:rect l="l" t="t" r="r" b="b"/>
            <a:pathLst>
              <a:path w="2647307" h="2786639">
                <a:moveTo>
                  <a:pt x="0" y="0"/>
                </a:moveTo>
                <a:lnTo>
                  <a:pt x="2647306" y="0"/>
                </a:lnTo>
                <a:lnTo>
                  <a:pt x="2647306" y="2786638"/>
                </a:lnTo>
                <a:lnTo>
                  <a:pt x="0" y="278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837158" y="343824"/>
            <a:ext cx="16452791" cy="4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00"/>
              </a:lnSpc>
            </a:pPr>
            <a:r>
              <a:rPr lang="en-US" sz="7786" spc="48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STRATEGIC RECOMMENDATIONS</a:t>
            </a:r>
          </a:p>
          <a:p>
            <a:pPr marL="0" lvl="0" indent="0" algn="ctr">
              <a:lnSpc>
                <a:spcPts val="10900"/>
              </a:lnSpc>
              <a:spcBef>
                <a:spcPct val="0"/>
              </a:spcBef>
            </a:pPr>
            <a:endParaRPr lang="en-US" sz="7786" spc="482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43513" y="3616670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7" y="0"/>
                </a:lnTo>
                <a:lnTo>
                  <a:pt x="820017" y="820017"/>
                </a:lnTo>
                <a:lnTo>
                  <a:pt x="0" y="82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43513" y="6641573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7" y="0"/>
                </a:lnTo>
                <a:lnTo>
                  <a:pt x="820017" y="820018"/>
                </a:lnTo>
                <a:lnTo>
                  <a:pt x="0" y="820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65378" y="3731490"/>
            <a:ext cx="186333" cy="6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2"/>
              </a:lnSpc>
              <a:spcBef>
                <a:spcPct val="0"/>
              </a:spcBef>
            </a:pPr>
            <a:r>
              <a:rPr lang="en-US" sz="355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3816" y="3731404"/>
            <a:ext cx="9040383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Upgrade Ticket Routing Software (AI Triage)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3698" y="4556127"/>
            <a:ext cx="15660529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.Implement AI-driven auto-priority assignment to eliminate the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30.2%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unassigned ticket queue.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.High-priority tickets already resolve in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3.49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when properly routed — the same result can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 achieved for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29,410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more tickets annually.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8701" y="6715692"/>
            <a:ext cx="339685" cy="6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2"/>
              </a:lnSpc>
              <a:spcBef>
                <a:spcPct val="0"/>
              </a:spcBef>
            </a:pPr>
            <a:r>
              <a:rPr lang="en-US" sz="355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03817" y="6756307"/>
            <a:ext cx="10183383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 Training &amp; Performance Improvement Plans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3639" y="7584982"/>
            <a:ext cx="14495264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spc="244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agents score below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3.75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satisfaction. Alfonso Barraza 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3.04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requires immediate PIP.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.Top performers Diana Rojo 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4.60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and Javier D. 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4.49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should serve as peer mentors.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 structured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90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-day training programmes.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8691" y="1028700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8" y="0"/>
                </a:lnTo>
                <a:lnTo>
                  <a:pt x="820018" y="820017"/>
                </a:lnTo>
                <a:lnTo>
                  <a:pt x="0" y="82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78681" y="1102818"/>
            <a:ext cx="300038" cy="6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2"/>
              </a:lnSpc>
              <a:spcBef>
                <a:spcPct val="0"/>
              </a:spcBef>
            </a:pPr>
            <a:r>
              <a:rPr lang="en-US" sz="355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49154" y="1184049"/>
            <a:ext cx="10342846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Fast-Track Queue + Procurement Reform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33733" y="2067836"/>
            <a:ext cx="15546467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 dedicated specialist queues for Hardware tickets with pre-approved parts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procurement workflows. The goal is to reduce the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 68%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above-average resolution time to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within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10%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the team average within two quarters.</a:t>
            </a:r>
          </a:p>
        </p:txBody>
      </p:sp>
      <p:sp>
        <p:nvSpPr>
          <p:cNvPr id="6" name="Freeform 6"/>
          <p:cNvSpPr/>
          <p:nvPr/>
        </p:nvSpPr>
        <p:spPr>
          <a:xfrm>
            <a:off x="618691" y="7291864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8" y="0"/>
                </a:lnTo>
                <a:lnTo>
                  <a:pt x="820018" y="820017"/>
                </a:lnTo>
                <a:lnTo>
                  <a:pt x="0" y="82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18691" y="4124378"/>
            <a:ext cx="820017" cy="820017"/>
          </a:xfrm>
          <a:custGeom>
            <a:avLst/>
            <a:gdLst/>
            <a:ahLst/>
            <a:cxnLst/>
            <a:rect l="l" t="t" r="r" b="b"/>
            <a:pathLst>
              <a:path w="820017" h="820017">
                <a:moveTo>
                  <a:pt x="0" y="0"/>
                </a:moveTo>
                <a:lnTo>
                  <a:pt x="820018" y="0"/>
                </a:lnTo>
                <a:lnTo>
                  <a:pt x="820018" y="820018"/>
                </a:lnTo>
                <a:lnTo>
                  <a:pt x="0" y="8200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78503" y="4239112"/>
            <a:ext cx="300395" cy="6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2"/>
              </a:lnSpc>
              <a:spcBef>
                <a:spcPct val="0"/>
              </a:spcBef>
            </a:pPr>
            <a:r>
              <a:rPr lang="en-US" sz="355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9154" y="4239112"/>
            <a:ext cx="8514046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Self-Service Portal for Login Access Tickets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7780" y="5180129"/>
            <a:ext cx="14472440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Login Access tickets (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29,193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per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years) already resolve in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0.31 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— they are prime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candidates for self-service automation. A portal could deflect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12,000–18,000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 annually, freeing agent capacity for complex work.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9154" y="7406598"/>
            <a:ext cx="5770846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Q4 Surge Capacity Planning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695" y="7365982"/>
            <a:ext cx="289203" cy="6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2"/>
              </a:lnSpc>
              <a:spcBef>
                <a:spcPct val="0"/>
              </a:spcBef>
            </a:pPr>
            <a:r>
              <a:rPr lang="en-US" sz="355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9095" y="8292422"/>
            <a:ext cx="14149983" cy="11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Q4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(Oct–Dec) consistently records the highest volumes, with December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2020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peaking at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2,609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tickets. Pre-position contract support agents and restrict agent </a:t>
            </a:r>
          </a:p>
          <a:p>
            <a:pPr marL="0" lvl="0" indent="0">
              <a:lnSpc>
                <a:spcPts val="2975"/>
              </a:lnSpc>
              <a:spcBef>
                <a:spcPct val="0"/>
              </a:spcBef>
            </a:pP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leave during </a:t>
            </a:r>
            <a:r>
              <a:rPr lang="en-US" sz="2125" u="none" strike="noStrike" spc="244" dirty="0">
                <a:solidFill>
                  <a:srgbClr val="E74C3C"/>
                </a:solidFill>
                <a:latin typeface="Poppins"/>
                <a:ea typeface="Poppins"/>
                <a:cs typeface="Poppins"/>
                <a:sym typeface="Poppins"/>
              </a:rPr>
              <a:t>Q4</a:t>
            </a:r>
            <a:r>
              <a:rPr lang="en-US" sz="2125" u="none" strike="noStrike" spc="24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Use Q1 (lowest volume) for training and system upgrades.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872445" y="255333"/>
            <a:ext cx="16452791" cy="271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00"/>
              </a:lnSpc>
            </a:pPr>
            <a:r>
              <a:rPr lang="en-US" sz="7786" spc="482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  <a:p>
            <a:pPr marL="0" lvl="0" indent="0" algn="ctr">
              <a:lnSpc>
                <a:spcPts val="10900"/>
              </a:lnSpc>
              <a:spcBef>
                <a:spcPct val="0"/>
              </a:spcBef>
            </a:pPr>
            <a:endParaRPr lang="en-US" sz="7786" spc="482" dirty="0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4457EC-6C84-C1E3-C13C-91B78F107AA5}"/>
              </a:ext>
            </a:extLst>
          </p:cNvPr>
          <p:cNvSpPr txBox="1"/>
          <p:nvPr/>
        </p:nvSpPr>
        <p:spPr>
          <a:xfrm>
            <a:off x="762000" y="2019300"/>
            <a:ext cx="175260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Ticket volume increased by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123%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from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2016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to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2020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, showing rapid organizational growth and increasing   pressure on the IT support infrastructure and operational management system.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D8ECC1-4462-CF5D-B6F2-8C22CD56F4FB}"/>
              </a:ext>
            </a:extLst>
          </p:cNvPr>
          <p:cNvSpPr txBox="1"/>
          <p:nvPr/>
        </p:nvSpPr>
        <p:spPr>
          <a:xfrm>
            <a:off x="762000" y="3032791"/>
            <a:ext cx="1748175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The IT support team successfully maintained a strong customer satisfaction score of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4.10/5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despite handling continuously rising ticket volumes and operational workload challenges.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10F4D-EFF0-8560-2A51-93CB286E124F}"/>
              </a:ext>
            </a:extLst>
          </p:cNvPr>
          <p:cNvSpPr txBox="1"/>
          <p:nvPr/>
        </p:nvSpPr>
        <p:spPr>
          <a:xfrm>
            <a:off x="761999" y="4046282"/>
            <a:ext cx="17481753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Dataset quality is highly reliable because the system contains almost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zero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NULL values, ensuring accurate reporting, better analysis, and trustworthy business decision-making processes.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72526-9AFE-E463-7FA2-A7DA0328D3DE}"/>
              </a:ext>
            </a:extLst>
          </p:cNvPr>
          <p:cNvSpPr txBox="1"/>
          <p:nvPr/>
        </p:nvSpPr>
        <p:spPr>
          <a:xfrm>
            <a:off x="717755" y="5059773"/>
            <a:ext cx="17525998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Around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30.2%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of tickets remained unrouted, highlighting serious inefficiencies in ticket assignment, delayed response management, and the absence of effective automated triage systems.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D3826-0712-1FFE-1D21-5163A3C27F27}"/>
              </a:ext>
            </a:extLst>
          </p:cNvPr>
          <p:cNvSpPr txBox="1"/>
          <p:nvPr/>
        </p:nvSpPr>
        <p:spPr>
          <a:xfrm>
            <a:off x="717754" y="6073264"/>
            <a:ext cx="17525999" cy="107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Hardware-related tickets recorded the highest average resolution time of </a:t>
            </a:r>
            <a:r>
              <a:rPr lang="en-US" sz="2125" spc="244" dirty="0">
                <a:solidFill>
                  <a:srgbClr val="FF0000"/>
                </a:solidFill>
                <a:latin typeface="Poppins"/>
                <a:cs typeface="Poppins"/>
              </a:rPr>
              <a:t>7.63</a:t>
            </a:r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 days, indicating technical complexity, slower troubleshooting processes, and resource management limitations within support operations</a:t>
            </a:r>
            <a:r>
              <a:rPr lang="en-US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4B0EBC-926C-1B93-D040-EBC54FE933B3}"/>
              </a:ext>
            </a:extLst>
          </p:cNvPr>
          <p:cNvSpPr txBox="1"/>
          <p:nvPr/>
        </p:nvSpPr>
        <p:spPr>
          <a:xfrm>
            <a:off x="734960" y="7413768"/>
            <a:ext cx="175260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25" spc="244" dirty="0">
                <a:solidFill>
                  <a:srgbClr val="000000"/>
                </a:solidFill>
                <a:latin typeface="Poppins"/>
                <a:cs typeface="Poppins"/>
              </a:rPr>
              <a:t>. The analysis suggests that implementing automation, specialist queues, and self-service portals can significantly reduce resolution time while improving scalability, efficiency, and customer experience.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21375" y="3576956"/>
            <a:ext cx="735496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6C77AC">
                    <a:alpha val="4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8C5A4-0CF0-F61D-8FB1-70D9396C0077}"/>
              </a:ext>
            </a:extLst>
          </p:cNvPr>
          <p:cNvSpPr txBox="1"/>
          <p:nvPr/>
        </p:nvSpPr>
        <p:spPr>
          <a:xfrm>
            <a:off x="762000" y="6667500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Regards,</a:t>
            </a:r>
          </a:p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Ronak Bhatia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3278</Words>
  <Application>Microsoft Office PowerPoint</Application>
  <PresentationFormat>Custom</PresentationFormat>
  <Paragraphs>420</Paragraphs>
  <Slides>32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Aptos</vt:lpstr>
      <vt:lpstr>Lora Bold</vt:lpstr>
      <vt:lpstr>Poppins</vt:lpstr>
      <vt:lpstr>Calibri</vt:lpstr>
      <vt:lpstr>Poppins Bold</vt:lpstr>
      <vt:lpstr>Canva Sans</vt:lpstr>
      <vt:lpstr>League Spartan</vt:lpstr>
      <vt:lpstr>Canva Sans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- you are a senior data analyst at it ticket indusry prepare a well maintained project report of this project. Task - Project must include these slides:- Description, Table of content, Executive Summary, Key matrics at a glance, strategic headline</dc:title>
  <dc:creator>Dell</dc:creator>
  <cp:lastModifiedBy>ronak bhatia</cp:lastModifiedBy>
  <cp:revision>10</cp:revision>
  <dcterms:created xsi:type="dcterms:W3CDTF">2006-08-16T00:00:00Z</dcterms:created>
  <dcterms:modified xsi:type="dcterms:W3CDTF">2026-05-18T16:53:54Z</dcterms:modified>
  <dc:identifier>DAHIBIv79dM</dc:identifier>
</cp:coreProperties>
</file>